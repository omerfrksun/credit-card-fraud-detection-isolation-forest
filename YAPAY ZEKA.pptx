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C1E126-837C-42E0-B5D7-53DD05D72DD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D9B7FC6-F9F9-446A-B642-5CB88A961E4F}">
      <dgm:prSet custT="1"/>
      <dgm:spPr/>
      <dgm:t>
        <a:bodyPr/>
        <a:lstStyle/>
        <a:p>
          <a:r>
            <a:rPr lang="tr-TR" sz="2000" b="1" i="0" baseline="0" dirty="0" err="1"/>
            <a:t>Only</a:t>
          </a:r>
          <a:r>
            <a:rPr lang="tr-TR" sz="2000" b="1" i="0" baseline="0" dirty="0"/>
            <a:t> 0.17 % of </a:t>
          </a:r>
          <a:r>
            <a:rPr lang="tr-TR" sz="2000" b="1" i="0" baseline="0" dirty="0" err="1"/>
            <a:t>credit-card</a:t>
          </a:r>
          <a:r>
            <a:rPr lang="tr-TR" sz="2000" b="1" i="0" baseline="0" dirty="0"/>
            <a:t> </a:t>
          </a:r>
          <a:r>
            <a:rPr lang="tr-TR" sz="2000" b="1" i="0" baseline="0" dirty="0" err="1"/>
            <a:t>transactions</a:t>
          </a:r>
          <a:r>
            <a:rPr lang="tr-TR" sz="2000" b="1" i="0" baseline="0" dirty="0"/>
            <a:t> </a:t>
          </a:r>
          <a:r>
            <a:rPr lang="tr-TR" sz="2000" b="1" i="0" baseline="0" dirty="0" err="1"/>
            <a:t>are</a:t>
          </a:r>
          <a:r>
            <a:rPr lang="tr-TR" sz="2000" b="1" i="0" baseline="0" dirty="0"/>
            <a:t> </a:t>
          </a:r>
          <a:r>
            <a:rPr lang="tr-TR" sz="2000" b="1" i="0" baseline="0" dirty="0" err="1"/>
            <a:t>fraudulent</a:t>
          </a:r>
          <a:r>
            <a:rPr lang="tr-TR" sz="2000" b="1" i="0" baseline="0" dirty="0"/>
            <a:t>.</a:t>
          </a:r>
          <a:endParaRPr lang="en-US" sz="2000" dirty="0"/>
        </a:p>
      </dgm:t>
    </dgm:pt>
    <dgm:pt modelId="{19AD56DC-D380-4A7E-BE15-77014F09EF1B}" type="parTrans" cxnId="{2DF6909D-5400-49B9-896B-C90109A604D0}">
      <dgm:prSet/>
      <dgm:spPr/>
      <dgm:t>
        <a:bodyPr/>
        <a:lstStyle/>
        <a:p>
          <a:endParaRPr lang="en-US"/>
        </a:p>
      </dgm:t>
    </dgm:pt>
    <dgm:pt modelId="{389AE4FD-22C1-415A-8883-AAC629815D9B}" type="sibTrans" cxnId="{2DF6909D-5400-49B9-896B-C90109A604D0}">
      <dgm:prSet/>
      <dgm:spPr/>
      <dgm:t>
        <a:bodyPr/>
        <a:lstStyle/>
        <a:p>
          <a:endParaRPr lang="en-US"/>
        </a:p>
      </dgm:t>
    </dgm:pt>
    <dgm:pt modelId="{5E8F2D50-4FB9-463B-9033-F9CCBC2C609A}">
      <dgm:prSet custT="1"/>
      <dgm:spPr/>
      <dgm:t>
        <a:bodyPr/>
        <a:lstStyle/>
        <a:p>
          <a:r>
            <a:rPr lang="tr-TR" sz="1600" b="1" i="0" baseline="0" dirty="0"/>
            <a:t>High </a:t>
          </a:r>
          <a:r>
            <a:rPr lang="tr-TR" sz="1600" b="1" i="0" baseline="0" dirty="0" err="1"/>
            <a:t>volume</a:t>
          </a:r>
          <a:r>
            <a:rPr lang="tr-TR" sz="1600" b="1" i="0" baseline="0" dirty="0"/>
            <a:t> + </a:t>
          </a:r>
          <a:r>
            <a:rPr lang="tr-TR" sz="1600" b="1" i="0" baseline="0" dirty="0" err="1"/>
            <a:t>tiny</a:t>
          </a:r>
          <a:r>
            <a:rPr lang="tr-TR" sz="1600" b="1" i="0" baseline="0" dirty="0"/>
            <a:t> </a:t>
          </a:r>
          <a:r>
            <a:rPr lang="tr-TR" sz="1600" b="1" i="0" baseline="0" dirty="0" err="1"/>
            <a:t>anomaly</a:t>
          </a:r>
          <a:r>
            <a:rPr lang="tr-TR" sz="1600" b="1" i="0" baseline="0" dirty="0"/>
            <a:t> rate → </a:t>
          </a:r>
          <a:r>
            <a:rPr lang="tr-TR" sz="1600" b="1" i="0" baseline="0" dirty="0" err="1"/>
            <a:t>manual</a:t>
          </a:r>
          <a:r>
            <a:rPr lang="tr-TR" sz="1600" b="1" i="0" baseline="0" dirty="0"/>
            <a:t> </a:t>
          </a:r>
          <a:r>
            <a:rPr lang="tr-TR" sz="1600" b="1" i="0" baseline="0" dirty="0" err="1"/>
            <a:t>detection</a:t>
          </a:r>
          <a:r>
            <a:rPr lang="tr-TR" sz="1600" b="1" i="0" baseline="0" dirty="0"/>
            <a:t> is </a:t>
          </a:r>
          <a:r>
            <a:rPr lang="tr-TR" sz="1600" b="1" i="0" baseline="0" dirty="0" err="1"/>
            <a:t>impossible</a:t>
          </a:r>
          <a:r>
            <a:rPr lang="tr-TR" sz="1600" b="1" i="0" baseline="0" dirty="0"/>
            <a:t>.</a:t>
          </a:r>
          <a:endParaRPr lang="en-US" sz="1600" dirty="0"/>
        </a:p>
      </dgm:t>
    </dgm:pt>
    <dgm:pt modelId="{F2C2A8E1-7BAA-4BDA-84E0-8477B94D7FFB}" type="parTrans" cxnId="{690CCA4B-2171-4B2C-A225-4DD94C98E149}">
      <dgm:prSet/>
      <dgm:spPr/>
      <dgm:t>
        <a:bodyPr/>
        <a:lstStyle/>
        <a:p>
          <a:endParaRPr lang="en-US"/>
        </a:p>
      </dgm:t>
    </dgm:pt>
    <dgm:pt modelId="{B6F4D316-052E-4021-977E-2C07AFB40ADE}" type="sibTrans" cxnId="{690CCA4B-2171-4B2C-A225-4DD94C98E149}">
      <dgm:prSet/>
      <dgm:spPr/>
      <dgm:t>
        <a:bodyPr/>
        <a:lstStyle/>
        <a:p>
          <a:endParaRPr lang="en-US"/>
        </a:p>
      </dgm:t>
    </dgm:pt>
    <dgm:pt modelId="{352186A0-1539-4A42-90AB-4D01CD66F181}">
      <dgm:prSet custT="1"/>
      <dgm:spPr/>
      <dgm:t>
        <a:bodyPr/>
        <a:lstStyle/>
        <a:p>
          <a:r>
            <a:rPr lang="tr-TR" sz="2000" b="1" i="0" baseline="0" dirty="0" err="1"/>
            <a:t>False</a:t>
          </a:r>
          <a:r>
            <a:rPr lang="tr-TR" sz="2000" b="1" i="0" baseline="0" dirty="0"/>
            <a:t> </a:t>
          </a:r>
          <a:r>
            <a:rPr lang="tr-TR" sz="2000" b="1" i="0" baseline="0" dirty="0" err="1"/>
            <a:t>negatives</a:t>
          </a:r>
          <a:r>
            <a:rPr lang="tr-TR" sz="2000" b="1" i="0" baseline="0" dirty="0"/>
            <a:t> (</a:t>
          </a:r>
          <a:r>
            <a:rPr lang="tr-TR" sz="2000" b="1" i="0" baseline="0" dirty="0" err="1"/>
            <a:t>missed</a:t>
          </a:r>
          <a:r>
            <a:rPr lang="tr-TR" sz="2000" b="1" i="0" baseline="0" dirty="0"/>
            <a:t> </a:t>
          </a:r>
          <a:r>
            <a:rPr lang="tr-TR" sz="2000" b="1" i="0" baseline="0" dirty="0" err="1"/>
            <a:t>fraud</a:t>
          </a:r>
          <a:r>
            <a:rPr lang="tr-TR" sz="2000" b="1" i="0" baseline="0" dirty="0"/>
            <a:t>) = </a:t>
          </a:r>
          <a:r>
            <a:rPr lang="tr-TR" sz="2000" b="1" i="0" baseline="0" dirty="0" err="1"/>
            <a:t>direct</a:t>
          </a:r>
          <a:r>
            <a:rPr lang="tr-TR" sz="2000" b="1" i="0" baseline="0" dirty="0"/>
            <a:t> </a:t>
          </a:r>
          <a:r>
            <a:rPr lang="tr-TR" sz="2000" b="1" i="0" baseline="0" dirty="0" err="1"/>
            <a:t>financial</a:t>
          </a:r>
          <a:r>
            <a:rPr lang="tr-TR" sz="2000" b="1" i="0" baseline="0" dirty="0"/>
            <a:t> </a:t>
          </a:r>
          <a:r>
            <a:rPr lang="tr-TR" sz="2000" b="1" i="0" baseline="0" dirty="0" err="1"/>
            <a:t>loss</a:t>
          </a:r>
          <a:r>
            <a:rPr lang="tr-TR" sz="2000" b="1" i="0" baseline="0" dirty="0"/>
            <a:t>.</a:t>
          </a:r>
          <a:endParaRPr lang="en-US" sz="2000" dirty="0"/>
        </a:p>
      </dgm:t>
    </dgm:pt>
    <dgm:pt modelId="{D8C7D9A6-264D-4D8B-8477-85E5C40EB0B7}" type="parTrans" cxnId="{EEFA710F-92E0-4035-BA9F-8CACFC37E3E7}">
      <dgm:prSet/>
      <dgm:spPr/>
      <dgm:t>
        <a:bodyPr/>
        <a:lstStyle/>
        <a:p>
          <a:endParaRPr lang="en-US"/>
        </a:p>
      </dgm:t>
    </dgm:pt>
    <dgm:pt modelId="{B775ACDF-3AC1-4DC3-9030-D205785ACC44}" type="sibTrans" cxnId="{EEFA710F-92E0-4035-BA9F-8CACFC37E3E7}">
      <dgm:prSet/>
      <dgm:spPr/>
      <dgm:t>
        <a:bodyPr/>
        <a:lstStyle/>
        <a:p>
          <a:endParaRPr lang="en-US"/>
        </a:p>
      </dgm:t>
    </dgm:pt>
    <dgm:pt modelId="{F64BD591-CCB9-4EF9-9ACF-BDEC2EACE59D}">
      <dgm:prSet custT="1"/>
      <dgm:spPr/>
      <dgm:t>
        <a:bodyPr/>
        <a:lstStyle/>
        <a:p>
          <a:r>
            <a:rPr lang="tr-TR" sz="1800" b="1" i="0" baseline="0" dirty="0" err="1"/>
            <a:t>False</a:t>
          </a:r>
          <a:r>
            <a:rPr lang="tr-TR" sz="1800" b="1" i="0" baseline="0" dirty="0"/>
            <a:t> </a:t>
          </a:r>
          <a:r>
            <a:rPr lang="tr-TR" sz="1800" b="1" i="0" baseline="0" dirty="0" err="1"/>
            <a:t>positives</a:t>
          </a:r>
          <a:r>
            <a:rPr lang="tr-TR" sz="1800" b="1" i="0" baseline="0" dirty="0"/>
            <a:t> (</a:t>
          </a:r>
          <a:r>
            <a:rPr lang="tr-TR" sz="1800" b="1" i="0" baseline="0" dirty="0" err="1"/>
            <a:t>wrong</a:t>
          </a:r>
          <a:r>
            <a:rPr lang="tr-TR" sz="1800" b="1" i="0" baseline="0" dirty="0"/>
            <a:t> </a:t>
          </a:r>
          <a:r>
            <a:rPr lang="tr-TR" sz="1800" b="1" i="0" baseline="0" dirty="0" err="1"/>
            <a:t>alarms</a:t>
          </a:r>
          <a:r>
            <a:rPr lang="tr-TR" sz="1800" b="1" i="0" baseline="0" dirty="0"/>
            <a:t>) = </a:t>
          </a:r>
          <a:r>
            <a:rPr lang="tr-TR" sz="1800" b="1" i="0" baseline="0" dirty="0" err="1"/>
            <a:t>customer</a:t>
          </a:r>
          <a:r>
            <a:rPr lang="tr-TR" sz="1800" b="1" i="0" baseline="0" dirty="0"/>
            <a:t> </a:t>
          </a:r>
          <a:r>
            <a:rPr lang="tr-TR" sz="1800" b="1" i="0" baseline="0" dirty="0" err="1"/>
            <a:t>frustration</a:t>
          </a:r>
          <a:r>
            <a:rPr lang="tr-TR" sz="1800" b="1" i="0" baseline="0" dirty="0"/>
            <a:t> </a:t>
          </a:r>
          <a:r>
            <a:rPr lang="tr-TR" sz="1800" b="1" i="0" baseline="0" dirty="0" err="1"/>
            <a:t>and</a:t>
          </a:r>
          <a:r>
            <a:rPr lang="tr-TR" sz="1800" b="1" i="0" baseline="0" dirty="0"/>
            <a:t> </a:t>
          </a:r>
          <a:r>
            <a:rPr lang="tr-TR" sz="1800" b="1" i="0" baseline="0" dirty="0" err="1"/>
            <a:t>extra</a:t>
          </a:r>
          <a:r>
            <a:rPr lang="tr-TR" sz="1800" b="1" i="0" baseline="0" dirty="0"/>
            <a:t> </a:t>
          </a:r>
          <a:r>
            <a:rPr lang="tr-TR" sz="1800" b="1" i="0" baseline="0" dirty="0" err="1"/>
            <a:t>costs</a:t>
          </a:r>
          <a:r>
            <a:rPr lang="tr-TR" sz="1800" b="1" i="0" baseline="0" dirty="0"/>
            <a:t>.</a:t>
          </a:r>
          <a:endParaRPr lang="en-US" sz="1800" dirty="0"/>
        </a:p>
      </dgm:t>
    </dgm:pt>
    <dgm:pt modelId="{103BDE25-A78C-49FD-B38A-EBFC91A2223F}" type="parTrans" cxnId="{86EBF429-AC53-4513-9119-A611EEAA8AF3}">
      <dgm:prSet/>
      <dgm:spPr/>
      <dgm:t>
        <a:bodyPr/>
        <a:lstStyle/>
        <a:p>
          <a:endParaRPr lang="en-US"/>
        </a:p>
      </dgm:t>
    </dgm:pt>
    <dgm:pt modelId="{DC8C42B7-F672-4952-9943-1FF12FB8A021}" type="sibTrans" cxnId="{86EBF429-AC53-4513-9119-A611EEAA8AF3}">
      <dgm:prSet/>
      <dgm:spPr/>
      <dgm:t>
        <a:bodyPr/>
        <a:lstStyle/>
        <a:p>
          <a:endParaRPr lang="en-US"/>
        </a:p>
      </dgm:t>
    </dgm:pt>
    <dgm:pt modelId="{638CB350-3A3E-44F0-A995-6ACDA5597A44}" type="pres">
      <dgm:prSet presAssocID="{73C1E126-837C-42E0-B5D7-53DD05D72DD1}" presName="linear" presStyleCnt="0">
        <dgm:presLayoutVars>
          <dgm:animLvl val="lvl"/>
          <dgm:resizeHandles val="exact"/>
        </dgm:presLayoutVars>
      </dgm:prSet>
      <dgm:spPr/>
    </dgm:pt>
    <dgm:pt modelId="{76B8666E-13F3-4B6D-A365-805AB26AEE68}" type="pres">
      <dgm:prSet presAssocID="{8D9B7FC6-F9F9-446A-B642-5CB88A961E4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3FDB87C-064C-4B4D-9ECE-CCFC8909CC5C}" type="pres">
      <dgm:prSet presAssocID="{389AE4FD-22C1-415A-8883-AAC629815D9B}" presName="spacer" presStyleCnt="0"/>
      <dgm:spPr/>
    </dgm:pt>
    <dgm:pt modelId="{85D8DB0A-5BB4-459B-B6AE-5D9BB358524C}" type="pres">
      <dgm:prSet presAssocID="{5E8F2D50-4FB9-463B-9033-F9CCBC2C609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B6DB2AD-82C9-484F-B093-E0C649B900FC}" type="pres">
      <dgm:prSet presAssocID="{B6F4D316-052E-4021-977E-2C07AFB40ADE}" presName="spacer" presStyleCnt="0"/>
      <dgm:spPr/>
    </dgm:pt>
    <dgm:pt modelId="{2B1CDBA8-D11A-4328-8A56-9D3667D9D547}" type="pres">
      <dgm:prSet presAssocID="{352186A0-1539-4A42-90AB-4D01CD66F18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0C0DD30-B6C0-4752-A75A-89F643EEBE5C}" type="pres">
      <dgm:prSet presAssocID="{B775ACDF-3AC1-4DC3-9030-D205785ACC44}" presName="spacer" presStyleCnt="0"/>
      <dgm:spPr/>
    </dgm:pt>
    <dgm:pt modelId="{E25E484E-4532-4DD6-A1F7-E80A4D9C65DB}" type="pres">
      <dgm:prSet presAssocID="{F64BD591-CCB9-4EF9-9ACF-BDEC2EACE59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EFA710F-92E0-4035-BA9F-8CACFC37E3E7}" srcId="{73C1E126-837C-42E0-B5D7-53DD05D72DD1}" destId="{352186A0-1539-4A42-90AB-4D01CD66F181}" srcOrd="2" destOrd="0" parTransId="{D8C7D9A6-264D-4D8B-8477-85E5C40EB0B7}" sibTransId="{B775ACDF-3AC1-4DC3-9030-D205785ACC44}"/>
    <dgm:cxn modelId="{86EBF429-AC53-4513-9119-A611EEAA8AF3}" srcId="{73C1E126-837C-42E0-B5D7-53DD05D72DD1}" destId="{F64BD591-CCB9-4EF9-9ACF-BDEC2EACE59D}" srcOrd="3" destOrd="0" parTransId="{103BDE25-A78C-49FD-B38A-EBFC91A2223F}" sibTransId="{DC8C42B7-F672-4952-9943-1FF12FB8A021}"/>
    <dgm:cxn modelId="{72AE032C-E63E-4D1F-A4D5-B43E9FA7F577}" type="presOf" srcId="{F64BD591-CCB9-4EF9-9ACF-BDEC2EACE59D}" destId="{E25E484E-4532-4DD6-A1F7-E80A4D9C65DB}" srcOrd="0" destOrd="0" presId="urn:microsoft.com/office/officeart/2005/8/layout/vList2"/>
    <dgm:cxn modelId="{690CCA4B-2171-4B2C-A225-4DD94C98E149}" srcId="{73C1E126-837C-42E0-B5D7-53DD05D72DD1}" destId="{5E8F2D50-4FB9-463B-9033-F9CCBC2C609A}" srcOrd="1" destOrd="0" parTransId="{F2C2A8E1-7BAA-4BDA-84E0-8477B94D7FFB}" sibTransId="{B6F4D316-052E-4021-977E-2C07AFB40ADE}"/>
    <dgm:cxn modelId="{C5045E87-9826-49D0-95ED-3DBB55F4BF6A}" type="presOf" srcId="{73C1E126-837C-42E0-B5D7-53DD05D72DD1}" destId="{638CB350-3A3E-44F0-A995-6ACDA5597A44}" srcOrd="0" destOrd="0" presId="urn:microsoft.com/office/officeart/2005/8/layout/vList2"/>
    <dgm:cxn modelId="{AB88FC97-A060-44B7-8C62-C7DD9B282C81}" type="presOf" srcId="{8D9B7FC6-F9F9-446A-B642-5CB88A961E4F}" destId="{76B8666E-13F3-4B6D-A365-805AB26AEE68}" srcOrd="0" destOrd="0" presId="urn:microsoft.com/office/officeart/2005/8/layout/vList2"/>
    <dgm:cxn modelId="{2DF6909D-5400-49B9-896B-C90109A604D0}" srcId="{73C1E126-837C-42E0-B5D7-53DD05D72DD1}" destId="{8D9B7FC6-F9F9-446A-B642-5CB88A961E4F}" srcOrd="0" destOrd="0" parTransId="{19AD56DC-D380-4A7E-BE15-77014F09EF1B}" sibTransId="{389AE4FD-22C1-415A-8883-AAC629815D9B}"/>
    <dgm:cxn modelId="{F39258E5-C362-4E8A-B357-A06D19ACF9E9}" type="presOf" srcId="{5E8F2D50-4FB9-463B-9033-F9CCBC2C609A}" destId="{85D8DB0A-5BB4-459B-B6AE-5D9BB358524C}" srcOrd="0" destOrd="0" presId="urn:microsoft.com/office/officeart/2005/8/layout/vList2"/>
    <dgm:cxn modelId="{018373FC-E26B-4861-8778-08CFF025419B}" type="presOf" srcId="{352186A0-1539-4A42-90AB-4D01CD66F181}" destId="{2B1CDBA8-D11A-4328-8A56-9D3667D9D547}" srcOrd="0" destOrd="0" presId="urn:microsoft.com/office/officeart/2005/8/layout/vList2"/>
    <dgm:cxn modelId="{F42CA895-BF99-48B4-948B-718B5ECDA75C}" type="presParOf" srcId="{638CB350-3A3E-44F0-A995-6ACDA5597A44}" destId="{76B8666E-13F3-4B6D-A365-805AB26AEE68}" srcOrd="0" destOrd="0" presId="urn:microsoft.com/office/officeart/2005/8/layout/vList2"/>
    <dgm:cxn modelId="{A68F327D-5240-4975-842B-C7EE28603145}" type="presParOf" srcId="{638CB350-3A3E-44F0-A995-6ACDA5597A44}" destId="{A3FDB87C-064C-4B4D-9ECE-CCFC8909CC5C}" srcOrd="1" destOrd="0" presId="urn:microsoft.com/office/officeart/2005/8/layout/vList2"/>
    <dgm:cxn modelId="{6227640F-F8D5-4233-BC93-988E1B443D17}" type="presParOf" srcId="{638CB350-3A3E-44F0-A995-6ACDA5597A44}" destId="{85D8DB0A-5BB4-459B-B6AE-5D9BB358524C}" srcOrd="2" destOrd="0" presId="urn:microsoft.com/office/officeart/2005/8/layout/vList2"/>
    <dgm:cxn modelId="{B7A2C1F8-27FD-41F4-8F5B-DEE1FEDFBCC5}" type="presParOf" srcId="{638CB350-3A3E-44F0-A995-6ACDA5597A44}" destId="{CB6DB2AD-82C9-484F-B093-E0C649B900FC}" srcOrd="3" destOrd="0" presId="urn:microsoft.com/office/officeart/2005/8/layout/vList2"/>
    <dgm:cxn modelId="{04FE2A90-9BB6-4976-893B-9547DD6AEC75}" type="presParOf" srcId="{638CB350-3A3E-44F0-A995-6ACDA5597A44}" destId="{2B1CDBA8-D11A-4328-8A56-9D3667D9D547}" srcOrd="4" destOrd="0" presId="urn:microsoft.com/office/officeart/2005/8/layout/vList2"/>
    <dgm:cxn modelId="{9083D141-1B26-4C80-9AB7-F39D24ABBD92}" type="presParOf" srcId="{638CB350-3A3E-44F0-A995-6ACDA5597A44}" destId="{C0C0DD30-B6C0-4752-A75A-89F643EEBE5C}" srcOrd="5" destOrd="0" presId="urn:microsoft.com/office/officeart/2005/8/layout/vList2"/>
    <dgm:cxn modelId="{19676623-7CDE-4D36-A293-1658BE025E76}" type="presParOf" srcId="{638CB350-3A3E-44F0-A995-6ACDA5597A44}" destId="{E25E484E-4532-4DD6-A1F7-E80A4D9C65D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40E88F-91DD-40BA-B8A5-A48B500900C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FD29F2B-9C0D-490D-9CB3-BCB124787F1E}">
      <dgm:prSet/>
      <dgm:spPr/>
      <dgm:t>
        <a:bodyPr/>
        <a:lstStyle/>
        <a:p>
          <a:r>
            <a:rPr lang="tr-TR" b="1" i="0" baseline="0"/>
            <a:t>Rows &amp; Features:</a:t>
          </a:r>
          <a:r>
            <a:rPr lang="tr-TR" b="0" i="0" baseline="0"/>
            <a:t> 284 807 transactions × 30 PCA-compressed features + Time + Amount.</a:t>
          </a:r>
          <a:endParaRPr lang="en-US"/>
        </a:p>
      </dgm:t>
    </dgm:pt>
    <dgm:pt modelId="{58AF9AD4-D6E0-4F0A-B31D-8A01504E357E}" type="parTrans" cxnId="{EA874628-920D-44A7-B57F-E9F557A376CA}">
      <dgm:prSet/>
      <dgm:spPr/>
      <dgm:t>
        <a:bodyPr/>
        <a:lstStyle/>
        <a:p>
          <a:endParaRPr lang="en-US"/>
        </a:p>
      </dgm:t>
    </dgm:pt>
    <dgm:pt modelId="{09F95EA6-9A9D-47C3-820F-2BDFB49DB959}" type="sibTrans" cxnId="{EA874628-920D-44A7-B57F-E9F557A376CA}">
      <dgm:prSet/>
      <dgm:spPr/>
      <dgm:t>
        <a:bodyPr/>
        <a:lstStyle/>
        <a:p>
          <a:endParaRPr lang="en-US"/>
        </a:p>
      </dgm:t>
    </dgm:pt>
    <dgm:pt modelId="{D106534E-8E74-4DD2-87B7-E741A6DCFB5B}">
      <dgm:prSet/>
      <dgm:spPr/>
      <dgm:t>
        <a:bodyPr/>
        <a:lstStyle/>
        <a:p>
          <a:r>
            <a:rPr lang="tr-TR" b="1" i="0" baseline="0"/>
            <a:t>Label:</a:t>
          </a:r>
          <a:r>
            <a:rPr lang="tr-TR" b="0" i="0" baseline="0"/>
            <a:t> Class (0 = legit, 1 = fraud).</a:t>
          </a:r>
          <a:endParaRPr lang="en-US"/>
        </a:p>
      </dgm:t>
    </dgm:pt>
    <dgm:pt modelId="{3E8F5DA9-DEA7-49B1-8740-C1BE50668A2C}" type="parTrans" cxnId="{7EFA62E6-FCB6-4694-97E7-3599B3E748D4}">
      <dgm:prSet/>
      <dgm:spPr/>
      <dgm:t>
        <a:bodyPr/>
        <a:lstStyle/>
        <a:p>
          <a:endParaRPr lang="en-US"/>
        </a:p>
      </dgm:t>
    </dgm:pt>
    <dgm:pt modelId="{052FB393-B6B2-4872-BF8D-E0C4F1B087EA}" type="sibTrans" cxnId="{7EFA62E6-FCB6-4694-97E7-3599B3E748D4}">
      <dgm:prSet/>
      <dgm:spPr/>
      <dgm:t>
        <a:bodyPr/>
        <a:lstStyle/>
        <a:p>
          <a:endParaRPr lang="en-US"/>
        </a:p>
      </dgm:t>
    </dgm:pt>
    <dgm:pt modelId="{3F01F9E1-E397-4D56-BA89-3999F3FADDF4}">
      <dgm:prSet/>
      <dgm:spPr/>
      <dgm:t>
        <a:bodyPr/>
        <a:lstStyle/>
        <a:p>
          <a:r>
            <a:rPr lang="tr-TR" b="1" i="0" baseline="0"/>
            <a:t>Class Imbalance:</a:t>
          </a:r>
          <a:r>
            <a:rPr lang="tr-TR" b="0" i="0" baseline="0"/>
            <a:t> 492 frauds → </a:t>
          </a:r>
          <a:r>
            <a:rPr lang="tr-TR" b="1" i="0" baseline="0"/>
            <a:t>0.17 %</a:t>
          </a:r>
          <a:r>
            <a:rPr lang="tr-TR" b="0" i="0" baseline="0"/>
            <a:t> of the data.</a:t>
          </a:r>
          <a:endParaRPr lang="en-US"/>
        </a:p>
      </dgm:t>
    </dgm:pt>
    <dgm:pt modelId="{D6D32B19-567D-4833-A2D4-61782759F065}" type="parTrans" cxnId="{E71B3E50-1496-453E-8FDA-D94DB5F5498E}">
      <dgm:prSet/>
      <dgm:spPr/>
      <dgm:t>
        <a:bodyPr/>
        <a:lstStyle/>
        <a:p>
          <a:endParaRPr lang="en-US"/>
        </a:p>
      </dgm:t>
    </dgm:pt>
    <dgm:pt modelId="{3939E265-03FB-44B6-80B4-321D4C030927}" type="sibTrans" cxnId="{E71B3E50-1496-453E-8FDA-D94DB5F5498E}">
      <dgm:prSet/>
      <dgm:spPr/>
      <dgm:t>
        <a:bodyPr/>
        <a:lstStyle/>
        <a:p>
          <a:endParaRPr lang="en-US"/>
        </a:p>
      </dgm:t>
    </dgm:pt>
    <dgm:pt modelId="{0C291A46-EFA8-4C8B-B10D-3B40FBCA91AE}">
      <dgm:prSet/>
      <dgm:spPr/>
      <dgm:t>
        <a:bodyPr/>
        <a:lstStyle/>
        <a:p>
          <a:r>
            <a:rPr lang="tr-TR" b="1" i="0" baseline="0"/>
            <a:t>Pre-processing:</a:t>
          </a:r>
          <a:r>
            <a:rPr lang="tr-TR" b="0" i="0" baseline="0"/>
            <a:t> Time &amp; Amount standardized; PCA features already scaled.</a:t>
          </a:r>
          <a:endParaRPr lang="en-US"/>
        </a:p>
      </dgm:t>
    </dgm:pt>
    <dgm:pt modelId="{0F21D6AE-F294-4C88-A944-4AE353810390}" type="parTrans" cxnId="{166EA9F0-EBE8-47FC-B57A-4CD53960FD46}">
      <dgm:prSet/>
      <dgm:spPr/>
      <dgm:t>
        <a:bodyPr/>
        <a:lstStyle/>
        <a:p>
          <a:endParaRPr lang="en-US"/>
        </a:p>
      </dgm:t>
    </dgm:pt>
    <dgm:pt modelId="{D21D4790-C4D9-45AA-BFB0-650599E570E5}" type="sibTrans" cxnId="{166EA9F0-EBE8-47FC-B57A-4CD53960FD46}">
      <dgm:prSet/>
      <dgm:spPr/>
      <dgm:t>
        <a:bodyPr/>
        <a:lstStyle/>
        <a:p>
          <a:endParaRPr lang="en-US"/>
        </a:p>
      </dgm:t>
    </dgm:pt>
    <dgm:pt modelId="{C3CA2F89-399C-469C-9A4E-E794CD85F12B}">
      <dgm:prSet/>
      <dgm:spPr/>
      <dgm:t>
        <a:bodyPr/>
        <a:lstStyle/>
        <a:p>
          <a:r>
            <a:rPr lang="tr-TR" b="1" i="0" baseline="0"/>
            <a:t>Train / Test Split:</a:t>
          </a:r>
          <a:r>
            <a:rPr lang="tr-TR" b="0" i="0" baseline="0"/>
            <a:t> 80 % train, 20 % test, stratified by label.</a:t>
          </a:r>
          <a:endParaRPr lang="en-US"/>
        </a:p>
      </dgm:t>
    </dgm:pt>
    <dgm:pt modelId="{9BCE77A5-C7F1-43B0-9DC8-757C6F462A3A}" type="parTrans" cxnId="{979D8341-DF83-4656-9A89-865C8F50D6E3}">
      <dgm:prSet/>
      <dgm:spPr/>
      <dgm:t>
        <a:bodyPr/>
        <a:lstStyle/>
        <a:p>
          <a:endParaRPr lang="en-US"/>
        </a:p>
      </dgm:t>
    </dgm:pt>
    <dgm:pt modelId="{1E20A1D0-8EB6-488F-9521-FB9C01B32FF9}" type="sibTrans" cxnId="{979D8341-DF83-4656-9A89-865C8F50D6E3}">
      <dgm:prSet/>
      <dgm:spPr/>
      <dgm:t>
        <a:bodyPr/>
        <a:lstStyle/>
        <a:p>
          <a:endParaRPr lang="en-US"/>
        </a:p>
      </dgm:t>
    </dgm:pt>
    <dgm:pt modelId="{CD717D7D-D171-4FCF-BF9A-799DB7A88F55}" type="pres">
      <dgm:prSet presAssocID="{A740E88F-91DD-40BA-B8A5-A48B500900CE}" presName="root" presStyleCnt="0">
        <dgm:presLayoutVars>
          <dgm:dir/>
          <dgm:resizeHandles val="exact"/>
        </dgm:presLayoutVars>
      </dgm:prSet>
      <dgm:spPr/>
    </dgm:pt>
    <dgm:pt modelId="{8C35D494-4999-42DB-92E8-B5A377A14619}" type="pres">
      <dgm:prSet presAssocID="{BFD29F2B-9C0D-490D-9CB3-BCB124787F1E}" presName="compNode" presStyleCnt="0"/>
      <dgm:spPr/>
    </dgm:pt>
    <dgm:pt modelId="{A064573A-86F4-4549-BC73-F3FDED792F59}" type="pres">
      <dgm:prSet presAssocID="{BFD29F2B-9C0D-490D-9CB3-BCB124787F1E}" presName="bgRect" presStyleLbl="bgShp" presStyleIdx="0" presStyleCnt="5"/>
      <dgm:spPr/>
    </dgm:pt>
    <dgm:pt modelId="{53B5DFEB-023B-4982-900E-3DE22A50823B}" type="pres">
      <dgm:prSet presAssocID="{BFD29F2B-9C0D-490D-9CB3-BCB124787F1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27DE145-877E-40A9-B480-735FF21AC751}" type="pres">
      <dgm:prSet presAssocID="{BFD29F2B-9C0D-490D-9CB3-BCB124787F1E}" presName="spaceRect" presStyleCnt="0"/>
      <dgm:spPr/>
    </dgm:pt>
    <dgm:pt modelId="{D8E3D259-F5A1-425F-BD6B-05055ADC604D}" type="pres">
      <dgm:prSet presAssocID="{BFD29F2B-9C0D-490D-9CB3-BCB124787F1E}" presName="parTx" presStyleLbl="revTx" presStyleIdx="0" presStyleCnt="5">
        <dgm:presLayoutVars>
          <dgm:chMax val="0"/>
          <dgm:chPref val="0"/>
        </dgm:presLayoutVars>
      </dgm:prSet>
      <dgm:spPr/>
    </dgm:pt>
    <dgm:pt modelId="{E7D2DB78-E40E-496D-B5BA-848C933C9DBE}" type="pres">
      <dgm:prSet presAssocID="{09F95EA6-9A9D-47C3-820F-2BDFB49DB959}" presName="sibTrans" presStyleCnt="0"/>
      <dgm:spPr/>
    </dgm:pt>
    <dgm:pt modelId="{5680FEAF-A113-4F6F-80B1-51C033A2D290}" type="pres">
      <dgm:prSet presAssocID="{D106534E-8E74-4DD2-87B7-E741A6DCFB5B}" presName="compNode" presStyleCnt="0"/>
      <dgm:spPr/>
    </dgm:pt>
    <dgm:pt modelId="{E1D7FE07-CB35-4CA2-8FAA-79A27AEA60C0}" type="pres">
      <dgm:prSet presAssocID="{D106534E-8E74-4DD2-87B7-E741A6DCFB5B}" presName="bgRect" presStyleLbl="bgShp" presStyleIdx="1" presStyleCnt="5"/>
      <dgm:spPr/>
    </dgm:pt>
    <dgm:pt modelId="{7C516BEC-73C2-4DA5-B702-1665B952B531}" type="pres">
      <dgm:prSet presAssocID="{D106534E-8E74-4DD2-87B7-E741A6DCFB5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549DBB8C-D9E4-48F6-8D50-B5FE4878EC67}" type="pres">
      <dgm:prSet presAssocID="{D106534E-8E74-4DD2-87B7-E741A6DCFB5B}" presName="spaceRect" presStyleCnt="0"/>
      <dgm:spPr/>
    </dgm:pt>
    <dgm:pt modelId="{27CC581C-1964-4A9A-9A71-51031A726EF1}" type="pres">
      <dgm:prSet presAssocID="{D106534E-8E74-4DD2-87B7-E741A6DCFB5B}" presName="parTx" presStyleLbl="revTx" presStyleIdx="1" presStyleCnt="5">
        <dgm:presLayoutVars>
          <dgm:chMax val="0"/>
          <dgm:chPref val="0"/>
        </dgm:presLayoutVars>
      </dgm:prSet>
      <dgm:spPr/>
    </dgm:pt>
    <dgm:pt modelId="{BE60E606-4C6C-4B1B-A09D-BB37E908EFBF}" type="pres">
      <dgm:prSet presAssocID="{052FB393-B6B2-4872-BF8D-E0C4F1B087EA}" presName="sibTrans" presStyleCnt="0"/>
      <dgm:spPr/>
    </dgm:pt>
    <dgm:pt modelId="{E1C5BCBA-525C-4217-B7C9-E52EAB731302}" type="pres">
      <dgm:prSet presAssocID="{3F01F9E1-E397-4D56-BA89-3999F3FADDF4}" presName="compNode" presStyleCnt="0"/>
      <dgm:spPr/>
    </dgm:pt>
    <dgm:pt modelId="{C6E1A912-8AE8-4468-B5C0-1730C9CDBB51}" type="pres">
      <dgm:prSet presAssocID="{3F01F9E1-E397-4D56-BA89-3999F3FADDF4}" presName="bgRect" presStyleLbl="bgShp" presStyleIdx="2" presStyleCnt="5"/>
      <dgm:spPr/>
    </dgm:pt>
    <dgm:pt modelId="{6E271B6B-CFBF-41EF-9E5A-3B8135104E9F}" type="pres">
      <dgm:prSet presAssocID="{3F01F9E1-E397-4D56-BA89-3999F3FADDF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56D87F94-EA65-4960-A511-45D18CD305B4}" type="pres">
      <dgm:prSet presAssocID="{3F01F9E1-E397-4D56-BA89-3999F3FADDF4}" presName="spaceRect" presStyleCnt="0"/>
      <dgm:spPr/>
    </dgm:pt>
    <dgm:pt modelId="{CD79FBC3-81D8-4431-A429-1158EC3648EC}" type="pres">
      <dgm:prSet presAssocID="{3F01F9E1-E397-4D56-BA89-3999F3FADDF4}" presName="parTx" presStyleLbl="revTx" presStyleIdx="2" presStyleCnt="5">
        <dgm:presLayoutVars>
          <dgm:chMax val="0"/>
          <dgm:chPref val="0"/>
        </dgm:presLayoutVars>
      </dgm:prSet>
      <dgm:spPr/>
    </dgm:pt>
    <dgm:pt modelId="{5A023984-41E8-414D-A1D2-EF08DD2A98DB}" type="pres">
      <dgm:prSet presAssocID="{3939E265-03FB-44B6-80B4-321D4C030927}" presName="sibTrans" presStyleCnt="0"/>
      <dgm:spPr/>
    </dgm:pt>
    <dgm:pt modelId="{FE008287-F7E4-4F18-B575-95B9A654DC89}" type="pres">
      <dgm:prSet presAssocID="{0C291A46-EFA8-4C8B-B10D-3B40FBCA91AE}" presName="compNode" presStyleCnt="0"/>
      <dgm:spPr/>
    </dgm:pt>
    <dgm:pt modelId="{FB64A0CF-F374-4067-83EF-4CDC158C2430}" type="pres">
      <dgm:prSet presAssocID="{0C291A46-EFA8-4C8B-B10D-3B40FBCA91AE}" presName="bgRect" presStyleLbl="bgShp" presStyleIdx="3" presStyleCnt="5"/>
      <dgm:spPr/>
    </dgm:pt>
    <dgm:pt modelId="{B6507E54-B8A5-455E-AC8A-D6E9B8921CAB}" type="pres">
      <dgm:prSet presAssocID="{0C291A46-EFA8-4C8B-B10D-3B40FBCA91A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4A76846D-1CD9-40F6-9CA9-D96F777036F9}" type="pres">
      <dgm:prSet presAssocID="{0C291A46-EFA8-4C8B-B10D-3B40FBCA91AE}" presName="spaceRect" presStyleCnt="0"/>
      <dgm:spPr/>
    </dgm:pt>
    <dgm:pt modelId="{90930B4C-8745-4B42-97B4-903A85150887}" type="pres">
      <dgm:prSet presAssocID="{0C291A46-EFA8-4C8B-B10D-3B40FBCA91AE}" presName="parTx" presStyleLbl="revTx" presStyleIdx="3" presStyleCnt="5">
        <dgm:presLayoutVars>
          <dgm:chMax val="0"/>
          <dgm:chPref val="0"/>
        </dgm:presLayoutVars>
      </dgm:prSet>
      <dgm:spPr/>
    </dgm:pt>
    <dgm:pt modelId="{EA0F0F7E-6916-4540-B3B1-736D5017529F}" type="pres">
      <dgm:prSet presAssocID="{D21D4790-C4D9-45AA-BFB0-650599E570E5}" presName="sibTrans" presStyleCnt="0"/>
      <dgm:spPr/>
    </dgm:pt>
    <dgm:pt modelId="{1B24046B-1D44-4179-86D6-67D773417DBC}" type="pres">
      <dgm:prSet presAssocID="{C3CA2F89-399C-469C-9A4E-E794CD85F12B}" presName="compNode" presStyleCnt="0"/>
      <dgm:spPr/>
    </dgm:pt>
    <dgm:pt modelId="{846AE5C4-0C4D-48A9-A5EB-9ACC4381CDD4}" type="pres">
      <dgm:prSet presAssocID="{C3CA2F89-399C-469C-9A4E-E794CD85F12B}" presName="bgRect" presStyleLbl="bgShp" presStyleIdx="4" presStyleCnt="5"/>
      <dgm:spPr/>
    </dgm:pt>
    <dgm:pt modelId="{646AF8A0-E9BD-41C7-8992-FFCA99020D03}" type="pres">
      <dgm:prSet presAssocID="{C3CA2F89-399C-469C-9A4E-E794CD85F12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264E9583-A62F-4FDB-A7DF-BD31721694EA}" type="pres">
      <dgm:prSet presAssocID="{C3CA2F89-399C-469C-9A4E-E794CD85F12B}" presName="spaceRect" presStyleCnt="0"/>
      <dgm:spPr/>
    </dgm:pt>
    <dgm:pt modelId="{F80C484B-60F2-47C2-AE73-9D13DA211F46}" type="pres">
      <dgm:prSet presAssocID="{C3CA2F89-399C-469C-9A4E-E794CD85F12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A874628-920D-44A7-B57F-E9F557A376CA}" srcId="{A740E88F-91DD-40BA-B8A5-A48B500900CE}" destId="{BFD29F2B-9C0D-490D-9CB3-BCB124787F1E}" srcOrd="0" destOrd="0" parTransId="{58AF9AD4-D6E0-4F0A-B31D-8A01504E357E}" sibTransId="{09F95EA6-9A9D-47C3-820F-2BDFB49DB959}"/>
    <dgm:cxn modelId="{E3583E2B-8C9D-466B-87A4-BB7E804EEFCE}" type="presOf" srcId="{0C291A46-EFA8-4C8B-B10D-3B40FBCA91AE}" destId="{90930B4C-8745-4B42-97B4-903A85150887}" srcOrd="0" destOrd="0" presId="urn:microsoft.com/office/officeart/2018/2/layout/IconVerticalSolidList"/>
    <dgm:cxn modelId="{979D8341-DF83-4656-9A89-865C8F50D6E3}" srcId="{A740E88F-91DD-40BA-B8A5-A48B500900CE}" destId="{C3CA2F89-399C-469C-9A4E-E794CD85F12B}" srcOrd="4" destOrd="0" parTransId="{9BCE77A5-C7F1-43B0-9DC8-757C6F462A3A}" sibTransId="{1E20A1D0-8EB6-488F-9521-FB9C01B32FF9}"/>
    <dgm:cxn modelId="{8340794B-319F-4EC9-AECB-5927D52D2995}" type="presOf" srcId="{A740E88F-91DD-40BA-B8A5-A48B500900CE}" destId="{CD717D7D-D171-4FCF-BF9A-799DB7A88F55}" srcOrd="0" destOrd="0" presId="urn:microsoft.com/office/officeart/2018/2/layout/IconVerticalSolidList"/>
    <dgm:cxn modelId="{E71B3E50-1496-453E-8FDA-D94DB5F5498E}" srcId="{A740E88F-91DD-40BA-B8A5-A48B500900CE}" destId="{3F01F9E1-E397-4D56-BA89-3999F3FADDF4}" srcOrd="2" destOrd="0" parTransId="{D6D32B19-567D-4833-A2D4-61782759F065}" sibTransId="{3939E265-03FB-44B6-80B4-321D4C030927}"/>
    <dgm:cxn modelId="{DEF52BB3-C84F-4F95-B528-73429DBD34FF}" type="presOf" srcId="{C3CA2F89-399C-469C-9A4E-E794CD85F12B}" destId="{F80C484B-60F2-47C2-AE73-9D13DA211F46}" srcOrd="0" destOrd="0" presId="urn:microsoft.com/office/officeart/2018/2/layout/IconVerticalSolidList"/>
    <dgm:cxn modelId="{06F453C4-0AE5-400A-B344-94E33BFED6FA}" type="presOf" srcId="{BFD29F2B-9C0D-490D-9CB3-BCB124787F1E}" destId="{D8E3D259-F5A1-425F-BD6B-05055ADC604D}" srcOrd="0" destOrd="0" presId="urn:microsoft.com/office/officeart/2018/2/layout/IconVerticalSolidList"/>
    <dgm:cxn modelId="{298D7ECC-0389-43A9-80D3-4B42F4162C7E}" type="presOf" srcId="{D106534E-8E74-4DD2-87B7-E741A6DCFB5B}" destId="{27CC581C-1964-4A9A-9A71-51031A726EF1}" srcOrd="0" destOrd="0" presId="urn:microsoft.com/office/officeart/2018/2/layout/IconVerticalSolidList"/>
    <dgm:cxn modelId="{7EFA62E6-FCB6-4694-97E7-3599B3E748D4}" srcId="{A740E88F-91DD-40BA-B8A5-A48B500900CE}" destId="{D106534E-8E74-4DD2-87B7-E741A6DCFB5B}" srcOrd="1" destOrd="0" parTransId="{3E8F5DA9-DEA7-49B1-8740-C1BE50668A2C}" sibTransId="{052FB393-B6B2-4872-BF8D-E0C4F1B087EA}"/>
    <dgm:cxn modelId="{166EA9F0-EBE8-47FC-B57A-4CD53960FD46}" srcId="{A740E88F-91DD-40BA-B8A5-A48B500900CE}" destId="{0C291A46-EFA8-4C8B-B10D-3B40FBCA91AE}" srcOrd="3" destOrd="0" parTransId="{0F21D6AE-F294-4C88-A944-4AE353810390}" sibTransId="{D21D4790-C4D9-45AA-BFB0-650599E570E5}"/>
    <dgm:cxn modelId="{26B92BF3-81AC-4314-9067-02C57FA489D6}" type="presOf" srcId="{3F01F9E1-E397-4D56-BA89-3999F3FADDF4}" destId="{CD79FBC3-81D8-4431-A429-1158EC3648EC}" srcOrd="0" destOrd="0" presId="urn:microsoft.com/office/officeart/2018/2/layout/IconVerticalSolidList"/>
    <dgm:cxn modelId="{0BF38755-FD2C-43DB-9A39-D18F1EA0A415}" type="presParOf" srcId="{CD717D7D-D171-4FCF-BF9A-799DB7A88F55}" destId="{8C35D494-4999-42DB-92E8-B5A377A14619}" srcOrd="0" destOrd="0" presId="urn:microsoft.com/office/officeart/2018/2/layout/IconVerticalSolidList"/>
    <dgm:cxn modelId="{D4C794FA-BE2B-488B-926B-64A96D7ED093}" type="presParOf" srcId="{8C35D494-4999-42DB-92E8-B5A377A14619}" destId="{A064573A-86F4-4549-BC73-F3FDED792F59}" srcOrd="0" destOrd="0" presId="urn:microsoft.com/office/officeart/2018/2/layout/IconVerticalSolidList"/>
    <dgm:cxn modelId="{B709327D-F79E-4B0D-A055-FF5577478C18}" type="presParOf" srcId="{8C35D494-4999-42DB-92E8-B5A377A14619}" destId="{53B5DFEB-023B-4982-900E-3DE22A50823B}" srcOrd="1" destOrd="0" presId="urn:microsoft.com/office/officeart/2018/2/layout/IconVerticalSolidList"/>
    <dgm:cxn modelId="{2AD418FA-48C6-4DB3-9B3C-16711D07C253}" type="presParOf" srcId="{8C35D494-4999-42DB-92E8-B5A377A14619}" destId="{327DE145-877E-40A9-B480-735FF21AC751}" srcOrd="2" destOrd="0" presId="urn:microsoft.com/office/officeart/2018/2/layout/IconVerticalSolidList"/>
    <dgm:cxn modelId="{BB1530EF-BE5F-4B1D-8B57-F366A3A6A4A2}" type="presParOf" srcId="{8C35D494-4999-42DB-92E8-B5A377A14619}" destId="{D8E3D259-F5A1-425F-BD6B-05055ADC604D}" srcOrd="3" destOrd="0" presId="urn:microsoft.com/office/officeart/2018/2/layout/IconVerticalSolidList"/>
    <dgm:cxn modelId="{6EE53FA7-6B91-46CF-B3D6-25831EAA74AA}" type="presParOf" srcId="{CD717D7D-D171-4FCF-BF9A-799DB7A88F55}" destId="{E7D2DB78-E40E-496D-B5BA-848C933C9DBE}" srcOrd="1" destOrd="0" presId="urn:microsoft.com/office/officeart/2018/2/layout/IconVerticalSolidList"/>
    <dgm:cxn modelId="{4F3F433E-79AB-4825-8E33-67108DB7A2A0}" type="presParOf" srcId="{CD717D7D-D171-4FCF-BF9A-799DB7A88F55}" destId="{5680FEAF-A113-4F6F-80B1-51C033A2D290}" srcOrd="2" destOrd="0" presId="urn:microsoft.com/office/officeart/2018/2/layout/IconVerticalSolidList"/>
    <dgm:cxn modelId="{017CED9C-53D9-4D91-AB23-7CA33FACDBE8}" type="presParOf" srcId="{5680FEAF-A113-4F6F-80B1-51C033A2D290}" destId="{E1D7FE07-CB35-4CA2-8FAA-79A27AEA60C0}" srcOrd="0" destOrd="0" presId="urn:microsoft.com/office/officeart/2018/2/layout/IconVerticalSolidList"/>
    <dgm:cxn modelId="{1311BC42-F4CF-4847-AC66-1E4BBF87CE82}" type="presParOf" srcId="{5680FEAF-A113-4F6F-80B1-51C033A2D290}" destId="{7C516BEC-73C2-4DA5-B702-1665B952B531}" srcOrd="1" destOrd="0" presId="urn:microsoft.com/office/officeart/2018/2/layout/IconVerticalSolidList"/>
    <dgm:cxn modelId="{65BB15FB-B659-466A-9809-DD1C4FDF7A6C}" type="presParOf" srcId="{5680FEAF-A113-4F6F-80B1-51C033A2D290}" destId="{549DBB8C-D9E4-48F6-8D50-B5FE4878EC67}" srcOrd="2" destOrd="0" presId="urn:microsoft.com/office/officeart/2018/2/layout/IconVerticalSolidList"/>
    <dgm:cxn modelId="{CA61ED24-6D87-453F-98D0-D472D21C057D}" type="presParOf" srcId="{5680FEAF-A113-4F6F-80B1-51C033A2D290}" destId="{27CC581C-1964-4A9A-9A71-51031A726EF1}" srcOrd="3" destOrd="0" presId="urn:microsoft.com/office/officeart/2018/2/layout/IconVerticalSolidList"/>
    <dgm:cxn modelId="{A2F52948-45D3-4529-9BD0-929FF9E7B574}" type="presParOf" srcId="{CD717D7D-D171-4FCF-BF9A-799DB7A88F55}" destId="{BE60E606-4C6C-4B1B-A09D-BB37E908EFBF}" srcOrd="3" destOrd="0" presId="urn:microsoft.com/office/officeart/2018/2/layout/IconVerticalSolidList"/>
    <dgm:cxn modelId="{EF645198-F35D-4C4E-909A-D896B4C0E8B1}" type="presParOf" srcId="{CD717D7D-D171-4FCF-BF9A-799DB7A88F55}" destId="{E1C5BCBA-525C-4217-B7C9-E52EAB731302}" srcOrd="4" destOrd="0" presId="urn:microsoft.com/office/officeart/2018/2/layout/IconVerticalSolidList"/>
    <dgm:cxn modelId="{884068BD-0F34-4D96-9302-14DD59099DCF}" type="presParOf" srcId="{E1C5BCBA-525C-4217-B7C9-E52EAB731302}" destId="{C6E1A912-8AE8-4468-B5C0-1730C9CDBB51}" srcOrd="0" destOrd="0" presId="urn:microsoft.com/office/officeart/2018/2/layout/IconVerticalSolidList"/>
    <dgm:cxn modelId="{8D94D76F-ADAB-4992-9002-417C7D24C3B2}" type="presParOf" srcId="{E1C5BCBA-525C-4217-B7C9-E52EAB731302}" destId="{6E271B6B-CFBF-41EF-9E5A-3B8135104E9F}" srcOrd="1" destOrd="0" presId="urn:microsoft.com/office/officeart/2018/2/layout/IconVerticalSolidList"/>
    <dgm:cxn modelId="{F803A2A2-542B-46EA-8C26-FBF079C636F8}" type="presParOf" srcId="{E1C5BCBA-525C-4217-B7C9-E52EAB731302}" destId="{56D87F94-EA65-4960-A511-45D18CD305B4}" srcOrd="2" destOrd="0" presId="urn:microsoft.com/office/officeart/2018/2/layout/IconVerticalSolidList"/>
    <dgm:cxn modelId="{93CB1FE4-F477-4C5B-801D-3D7E6084622E}" type="presParOf" srcId="{E1C5BCBA-525C-4217-B7C9-E52EAB731302}" destId="{CD79FBC3-81D8-4431-A429-1158EC3648EC}" srcOrd="3" destOrd="0" presId="urn:microsoft.com/office/officeart/2018/2/layout/IconVerticalSolidList"/>
    <dgm:cxn modelId="{B8A91940-53D4-4A16-B44C-9FC965B2750A}" type="presParOf" srcId="{CD717D7D-D171-4FCF-BF9A-799DB7A88F55}" destId="{5A023984-41E8-414D-A1D2-EF08DD2A98DB}" srcOrd="5" destOrd="0" presId="urn:microsoft.com/office/officeart/2018/2/layout/IconVerticalSolidList"/>
    <dgm:cxn modelId="{55AED892-30D9-4159-B610-B678E22B6AFD}" type="presParOf" srcId="{CD717D7D-D171-4FCF-BF9A-799DB7A88F55}" destId="{FE008287-F7E4-4F18-B575-95B9A654DC89}" srcOrd="6" destOrd="0" presId="urn:microsoft.com/office/officeart/2018/2/layout/IconVerticalSolidList"/>
    <dgm:cxn modelId="{C1C8C7C4-C882-4A7F-AC54-CCFA61631F53}" type="presParOf" srcId="{FE008287-F7E4-4F18-B575-95B9A654DC89}" destId="{FB64A0CF-F374-4067-83EF-4CDC158C2430}" srcOrd="0" destOrd="0" presId="urn:microsoft.com/office/officeart/2018/2/layout/IconVerticalSolidList"/>
    <dgm:cxn modelId="{792704E6-B18D-42F7-B230-A3D88C26EEB7}" type="presParOf" srcId="{FE008287-F7E4-4F18-B575-95B9A654DC89}" destId="{B6507E54-B8A5-455E-AC8A-D6E9B8921CAB}" srcOrd="1" destOrd="0" presId="urn:microsoft.com/office/officeart/2018/2/layout/IconVerticalSolidList"/>
    <dgm:cxn modelId="{058E0B64-4A87-4D0F-974A-CB465EFF8D93}" type="presParOf" srcId="{FE008287-F7E4-4F18-B575-95B9A654DC89}" destId="{4A76846D-1CD9-40F6-9CA9-D96F777036F9}" srcOrd="2" destOrd="0" presId="urn:microsoft.com/office/officeart/2018/2/layout/IconVerticalSolidList"/>
    <dgm:cxn modelId="{DD95AD8E-A753-4BD8-A0A4-E64C6056B901}" type="presParOf" srcId="{FE008287-F7E4-4F18-B575-95B9A654DC89}" destId="{90930B4C-8745-4B42-97B4-903A85150887}" srcOrd="3" destOrd="0" presId="urn:microsoft.com/office/officeart/2018/2/layout/IconVerticalSolidList"/>
    <dgm:cxn modelId="{0D973E7D-CDC4-4957-802D-B5E052CC89BB}" type="presParOf" srcId="{CD717D7D-D171-4FCF-BF9A-799DB7A88F55}" destId="{EA0F0F7E-6916-4540-B3B1-736D5017529F}" srcOrd="7" destOrd="0" presId="urn:microsoft.com/office/officeart/2018/2/layout/IconVerticalSolidList"/>
    <dgm:cxn modelId="{AE33B970-3D33-45FD-B1E7-4F687F9258B3}" type="presParOf" srcId="{CD717D7D-D171-4FCF-BF9A-799DB7A88F55}" destId="{1B24046B-1D44-4179-86D6-67D773417DBC}" srcOrd="8" destOrd="0" presId="urn:microsoft.com/office/officeart/2018/2/layout/IconVerticalSolidList"/>
    <dgm:cxn modelId="{C32A6BF4-0FAA-4476-98E1-29320876E639}" type="presParOf" srcId="{1B24046B-1D44-4179-86D6-67D773417DBC}" destId="{846AE5C4-0C4D-48A9-A5EB-9ACC4381CDD4}" srcOrd="0" destOrd="0" presId="urn:microsoft.com/office/officeart/2018/2/layout/IconVerticalSolidList"/>
    <dgm:cxn modelId="{465A5399-5B55-4835-B911-ED1931D06134}" type="presParOf" srcId="{1B24046B-1D44-4179-86D6-67D773417DBC}" destId="{646AF8A0-E9BD-41C7-8992-FFCA99020D03}" srcOrd="1" destOrd="0" presId="urn:microsoft.com/office/officeart/2018/2/layout/IconVerticalSolidList"/>
    <dgm:cxn modelId="{4AF5F70F-E918-4A21-A62B-92A56F97ED0F}" type="presParOf" srcId="{1B24046B-1D44-4179-86D6-67D773417DBC}" destId="{264E9583-A62F-4FDB-A7DF-BD31721694EA}" srcOrd="2" destOrd="0" presId="urn:microsoft.com/office/officeart/2018/2/layout/IconVerticalSolidList"/>
    <dgm:cxn modelId="{671BFF2C-10C6-406B-A995-D7C8A3893159}" type="presParOf" srcId="{1B24046B-1D44-4179-86D6-67D773417DBC}" destId="{F80C484B-60F2-47C2-AE73-9D13DA211F4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D5E08D-EA16-4265-8ED5-A05281956BE9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45600BD-50CD-43A1-A1B8-6A3DB3D748D9}">
      <dgm:prSet/>
      <dgm:spPr/>
      <dgm:t>
        <a:bodyPr/>
        <a:lstStyle/>
        <a:p>
          <a:r>
            <a:rPr lang="tr-TR" b="0" i="0" baseline="0"/>
            <a:t>X-axis = PC 1  Y-axis = PC 2</a:t>
          </a:r>
          <a:endParaRPr lang="en-US"/>
        </a:p>
      </dgm:t>
    </dgm:pt>
    <dgm:pt modelId="{B55CD371-AEA0-4583-B1B2-A52281B9BAEC}" type="parTrans" cxnId="{7E5FADCC-727B-444E-96D3-200FA996FC06}">
      <dgm:prSet/>
      <dgm:spPr/>
      <dgm:t>
        <a:bodyPr/>
        <a:lstStyle/>
        <a:p>
          <a:endParaRPr lang="en-US"/>
        </a:p>
      </dgm:t>
    </dgm:pt>
    <dgm:pt modelId="{F78A8888-2177-49DE-99A2-B4A73707E7DC}" type="sibTrans" cxnId="{7E5FADCC-727B-444E-96D3-200FA996FC06}">
      <dgm:prSet/>
      <dgm:spPr/>
      <dgm:t>
        <a:bodyPr/>
        <a:lstStyle/>
        <a:p>
          <a:endParaRPr lang="en-US"/>
        </a:p>
      </dgm:t>
    </dgm:pt>
    <dgm:pt modelId="{F28E03ED-6F12-4FBA-A7AB-AFC996ED365C}">
      <dgm:prSet/>
      <dgm:spPr/>
      <dgm:t>
        <a:bodyPr/>
        <a:lstStyle/>
        <a:p>
          <a:r>
            <a:rPr lang="tr-TR" b="1" i="0" baseline="0"/>
            <a:t>Red (1)</a:t>
          </a:r>
          <a:r>
            <a:rPr lang="tr-TR" b="0" i="0" baseline="0"/>
            <a:t> = transactions the model flagged as fraud</a:t>
          </a:r>
          <a:endParaRPr lang="en-US"/>
        </a:p>
      </dgm:t>
    </dgm:pt>
    <dgm:pt modelId="{A4BE75F1-6E7D-415F-A67B-4B281E1D4C83}" type="parTrans" cxnId="{80371012-19A0-415C-B20B-34395C534EEF}">
      <dgm:prSet/>
      <dgm:spPr/>
      <dgm:t>
        <a:bodyPr/>
        <a:lstStyle/>
        <a:p>
          <a:endParaRPr lang="en-US"/>
        </a:p>
      </dgm:t>
    </dgm:pt>
    <dgm:pt modelId="{4D0C488E-7C70-40ED-97CD-F2867C730A7A}" type="sibTrans" cxnId="{80371012-19A0-415C-B20B-34395C534EEF}">
      <dgm:prSet/>
      <dgm:spPr/>
      <dgm:t>
        <a:bodyPr/>
        <a:lstStyle/>
        <a:p>
          <a:endParaRPr lang="en-US"/>
        </a:p>
      </dgm:t>
    </dgm:pt>
    <dgm:pt modelId="{58351EC6-75DE-4733-A8A1-6F9603701987}">
      <dgm:prSet/>
      <dgm:spPr/>
      <dgm:t>
        <a:bodyPr/>
        <a:lstStyle/>
        <a:p>
          <a:r>
            <a:rPr lang="tr-TR" b="1" i="0" baseline="0"/>
            <a:t>Blue (0)</a:t>
          </a:r>
          <a:r>
            <a:rPr lang="tr-TR" b="0" i="0" baseline="0"/>
            <a:t> = transactions the model left as legit</a:t>
          </a:r>
          <a:endParaRPr lang="en-US"/>
        </a:p>
      </dgm:t>
    </dgm:pt>
    <dgm:pt modelId="{F10E0321-D2C1-4E9C-B0C9-90B56DDF2268}" type="parTrans" cxnId="{1605B0D3-DB1C-45C0-8F25-91C8CEFCE263}">
      <dgm:prSet/>
      <dgm:spPr/>
      <dgm:t>
        <a:bodyPr/>
        <a:lstStyle/>
        <a:p>
          <a:endParaRPr lang="en-US"/>
        </a:p>
      </dgm:t>
    </dgm:pt>
    <dgm:pt modelId="{C188698C-A800-40F6-95B4-6CB18B01B18F}" type="sibTrans" cxnId="{1605B0D3-DB1C-45C0-8F25-91C8CEFCE263}">
      <dgm:prSet/>
      <dgm:spPr/>
      <dgm:t>
        <a:bodyPr/>
        <a:lstStyle/>
        <a:p>
          <a:endParaRPr lang="en-US"/>
        </a:p>
      </dgm:t>
    </dgm:pt>
    <dgm:pt modelId="{7E1A582B-2F51-419E-BE2B-D510BD84F7A7}">
      <dgm:prSet/>
      <dgm:spPr/>
      <dgm:t>
        <a:bodyPr/>
        <a:lstStyle/>
        <a:p>
          <a:r>
            <a:rPr lang="tr-TR" b="0" i="0" baseline="0"/>
            <a:t>Caption: “2-D PCA projection · cont 0.003 · threshold 99.3 %”</a:t>
          </a:r>
          <a:endParaRPr lang="en-US"/>
        </a:p>
      </dgm:t>
    </dgm:pt>
    <dgm:pt modelId="{38F208F8-DFE8-4807-AA3A-0B35CE68A9E1}" type="parTrans" cxnId="{6831D82D-083F-475B-BC31-4A60FCAC6A65}">
      <dgm:prSet/>
      <dgm:spPr/>
      <dgm:t>
        <a:bodyPr/>
        <a:lstStyle/>
        <a:p>
          <a:endParaRPr lang="en-US"/>
        </a:p>
      </dgm:t>
    </dgm:pt>
    <dgm:pt modelId="{AF2710D0-C91F-4E23-8272-391B98A2C407}" type="sibTrans" cxnId="{6831D82D-083F-475B-BC31-4A60FCAC6A65}">
      <dgm:prSet/>
      <dgm:spPr/>
      <dgm:t>
        <a:bodyPr/>
        <a:lstStyle/>
        <a:p>
          <a:endParaRPr lang="en-US"/>
        </a:p>
      </dgm:t>
    </dgm:pt>
    <dgm:pt modelId="{EFF65F69-510B-4E1A-B860-E271FDE37797}">
      <dgm:prSet/>
      <dgm:spPr/>
      <dgm:t>
        <a:bodyPr/>
        <a:lstStyle/>
        <a:p>
          <a:r>
            <a:rPr lang="en-US"/>
            <a:t>“Flagged points cluster at the sparse edges of the data cloud.”</a:t>
          </a:r>
        </a:p>
      </dgm:t>
    </dgm:pt>
    <dgm:pt modelId="{EA55280E-5777-4893-AB8C-3A828EEDBCAB}" type="parTrans" cxnId="{59818D11-C7C2-4731-A249-229B86BF3C3A}">
      <dgm:prSet/>
      <dgm:spPr/>
      <dgm:t>
        <a:bodyPr/>
        <a:lstStyle/>
        <a:p>
          <a:endParaRPr lang="en-US"/>
        </a:p>
      </dgm:t>
    </dgm:pt>
    <dgm:pt modelId="{713B72D9-D069-4243-B430-9A02FC1835A5}" type="sibTrans" cxnId="{59818D11-C7C2-4731-A249-229B86BF3C3A}">
      <dgm:prSet/>
      <dgm:spPr/>
      <dgm:t>
        <a:bodyPr/>
        <a:lstStyle/>
        <a:p>
          <a:endParaRPr lang="en-US"/>
        </a:p>
      </dgm:t>
    </dgm:pt>
    <dgm:pt modelId="{0285789A-08E0-4AB0-968E-912D02C9B066}" type="pres">
      <dgm:prSet presAssocID="{DDD5E08D-EA16-4265-8ED5-A05281956BE9}" presName="vert0" presStyleCnt="0">
        <dgm:presLayoutVars>
          <dgm:dir/>
          <dgm:animOne val="branch"/>
          <dgm:animLvl val="lvl"/>
        </dgm:presLayoutVars>
      </dgm:prSet>
      <dgm:spPr/>
    </dgm:pt>
    <dgm:pt modelId="{366209EC-7FC3-4AB8-8184-8B769878432C}" type="pres">
      <dgm:prSet presAssocID="{445600BD-50CD-43A1-A1B8-6A3DB3D748D9}" presName="thickLine" presStyleLbl="alignNode1" presStyleIdx="0" presStyleCnt="5"/>
      <dgm:spPr/>
    </dgm:pt>
    <dgm:pt modelId="{68B379CE-72E7-4DC6-BBAD-69FC522F2A05}" type="pres">
      <dgm:prSet presAssocID="{445600BD-50CD-43A1-A1B8-6A3DB3D748D9}" presName="horz1" presStyleCnt="0"/>
      <dgm:spPr/>
    </dgm:pt>
    <dgm:pt modelId="{3463EE5F-26AC-490B-9196-4C8AF34ED476}" type="pres">
      <dgm:prSet presAssocID="{445600BD-50CD-43A1-A1B8-6A3DB3D748D9}" presName="tx1" presStyleLbl="revTx" presStyleIdx="0" presStyleCnt="5"/>
      <dgm:spPr/>
    </dgm:pt>
    <dgm:pt modelId="{D9FFCC53-157C-48DC-891D-38FAEAC1DCD2}" type="pres">
      <dgm:prSet presAssocID="{445600BD-50CD-43A1-A1B8-6A3DB3D748D9}" presName="vert1" presStyleCnt="0"/>
      <dgm:spPr/>
    </dgm:pt>
    <dgm:pt modelId="{EAABD343-C246-46FA-B7D6-C3D54A9A526B}" type="pres">
      <dgm:prSet presAssocID="{F28E03ED-6F12-4FBA-A7AB-AFC996ED365C}" presName="thickLine" presStyleLbl="alignNode1" presStyleIdx="1" presStyleCnt="5"/>
      <dgm:spPr/>
    </dgm:pt>
    <dgm:pt modelId="{FA673270-7DD0-4498-995C-1B28C2BE4820}" type="pres">
      <dgm:prSet presAssocID="{F28E03ED-6F12-4FBA-A7AB-AFC996ED365C}" presName="horz1" presStyleCnt="0"/>
      <dgm:spPr/>
    </dgm:pt>
    <dgm:pt modelId="{51866EEA-3E12-46D5-9F19-ED01832C823A}" type="pres">
      <dgm:prSet presAssocID="{F28E03ED-6F12-4FBA-A7AB-AFC996ED365C}" presName="tx1" presStyleLbl="revTx" presStyleIdx="1" presStyleCnt="5"/>
      <dgm:spPr/>
    </dgm:pt>
    <dgm:pt modelId="{B52D19DE-2239-49AB-A1BC-3A77D6112A73}" type="pres">
      <dgm:prSet presAssocID="{F28E03ED-6F12-4FBA-A7AB-AFC996ED365C}" presName="vert1" presStyleCnt="0"/>
      <dgm:spPr/>
    </dgm:pt>
    <dgm:pt modelId="{38B09B44-EF0F-44E4-BCFF-EAD1D5600FFB}" type="pres">
      <dgm:prSet presAssocID="{58351EC6-75DE-4733-A8A1-6F9603701987}" presName="thickLine" presStyleLbl="alignNode1" presStyleIdx="2" presStyleCnt="5"/>
      <dgm:spPr/>
    </dgm:pt>
    <dgm:pt modelId="{0128745F-FC01-4A3D-BB0E-B89B2679B775}" type="pres">
      <dgm:prSet presAssocID="{58351EC6-75DE-4733-A8A1-6F9603701987}" presName="horz1" presStyleCnt="0"/>
      <dgm:spPr/>
    </dgm:pt>
    <dgm:pt modelId="{FF775FCC-0D09-41A2-BC22-9A3E3D88A372}" type="pres">
      <dgm:prSet presAssocID="{58351EC6-75DE-4733-A8A1-6F9603701987}" presName="tx1" presStyleLbl="revTx" presStyleIdx="2" presStyleCnt="5"/>
      <dgm:spPr/>
    </dgm:pt>
    <dgm:pt modelId="{79C46757-B2C2-48A9-82F2-45FC13916DE2}" type="pres">
      <dgm:prSet presAssocID="{58351EC6-75DE-4733-A8A1-6F9603701987}" presName="vert1" presStyleCnt="0"/>
      <dgm:spPr/>
    </dgm:pt>
    <dgm:pt modelId="{35A7C2FC-6952-40C6-8783-7CDEB6EFD0C7}" type="pres">
      <dgm:prSet presAssocID="{7E1A582B-2F51-419E-BE2B-D510BD84F7A7}" presName="thickLine" presStyleLbl="alignNode1" presStyleIdx="3" presStyleCnt="5"/>
      <dgm:spPr/>
    </dgm:pt>
    <dgm:pt modelId="{EFD74231-D7C1-472A-8791-74D0B8CB911B}" type="pres">
      <dgm:prSet presAssocID="{7E1A582B-2F51-419E-BE2B-D510BD84F7A7}" presName="horz1" presStyleCnt="0"/>
      <dgm:spPr/>
    </dgm:pt>
    <dgm:pt modelId="{9855B34C-9B99-4871-860A-4CCE699E5E2E}" type="pres">
      <dgm:prSet presAssocID="{7E1A582B-2F51-419E-BE2B-D510BD84F7A7}" presName="tx1" presStyleLbl="revTx" presStyleIdx="3" presStyleCnt="5"/>
      <dgm:spPr/>
    </dgm:pt>
    <dgm:pt modelId="{ED56EB23-5E52-4EE5-B9CF-50F11EC69FFC}" type="pres">
      <dgm:prSet presAssocID="{7E1A582B-2F51-419E-BE2B-D510BD84F7A7}" presName="vert1" presStyleCnt="0"/>
      <dgm:spPr/>
    </dgm:pt>
    <dgm:pt modelId="{5700C848-5E47-44C0-B0AE-A1B9EDE41311}" type="pres">
      <dgm:prSet presAssocID="{EFF65F69-510B-4E1A-B860-E271FDE37797}" presName="thickLine" presStyleLbl="alignNode1" presStyleIdx="4" presStyleCnt="5"/>
      <dgm:spPr/>
    </dgm:pt>
    <dgm:pt modelId="{4E4D181E-8BA5-41A4-B43E-771211E68E8F}" type="pres">
      <dgm:prSet presAssocID="{EFF65F69-510B-4E1A-B860-E271FDE37797}" presName="horz1" presStyleCnt="0"/>
      <dgm:spPr/>
    </dgm:pt>
    <dgm:pt modelId="{82B64CCF-99DE-4027-BD02-8D6262751F03}" type="pres">
      <dgm:prSet presAssocID="{EFF65F69-510B-4E1A-B860-E271FDE37797}" presName="tx1" presStyleLbl="revTx" presStyleIdx="4" presStyleCnt="5"/>
      <dgm:spPr/>
    </dgm:pt>
    <dgm:pt modelId="{E96A5865-CF3C-4B50-BF5A-3EB6F4361C15}" type="pres">
      <dgm:prSet presAssocID="{EFF65F69-510B-4E1A-B860-E271FDE37797}" presName="vert1" presStyleCnt="0"/>
      <dgm:spPr/>
    </dgm:pt>
  </dgm:ptLst>
  <dgm:cxnLst>
    <dgm:cxn modelId="{689E4003-D1BB-48E4-9828-4DA0E3526197}" type="presOf" srcId="{445600BD-50CD-43A1-A1B8-6A3DB3D748D9}" destId="{3463EE5F-26AC-490B-9196-4C8AF34ED476}" srcOrd="0" destOrd="0" presId="urn:microsoft.com/office/officeart/2008/layout/LinedList"/>
    <dgm:cxn modelId="{12BF9F07-918E-4701-82A3-F2639C32A719}" type="presOf" srcId="{58351EC6-75DE-4733-A8A1-6F9603701987}" destId="{FF775FCC-0D09-41A2-BC22-9A3E3D88A372}" srcOrd="0" destOrd="0" presId="urn:microsoft.com/office/officeart/2008/layout/LinedList"/>
    <dgm:cxn modelId="{59818D11-C7C2-4731-A249-229B86BF3C3A}" srcId="{DDD5E08D-EA16-4265-8ED5-A05281956BE9}" destId="{EFF65F69-510B-4E1A-B860-E271FDE37797}" srcOrd="4" destOrd="0" parTransId="{EA55280E-5777-4893-AB8C-3A828EEDBCAB}" sibTransId="{713B72D9-D069-4243-B430-9A02FC1835A5}"/>
    <dgm:cxn modelId="{80371012-19A0-415C-B20B-34395C534EEF}" srcId="{DDD5E08D-EA16-4265-8ED5-A05281956BE9}" destId="{F28E03ED-6F12-4FBA-A7AB-AFC996ED365C}" srcOrd="1" destOrd="0" parTransId="{A4BE75F1-6E7D-415F-A67B-4B281E1D4C83}" sibTransId="{4D0C488E-7C70-40ED-97CD-F2867C730A7A}"/>
    <dgm:cxn modelId="{6831D82D-083F-475B-BC31-4A60FCAC6A65}" srcId="{DDD5E08D-EA16-4265-8ED5-A05281956BE9}" destId="{7E1A582B-2F51-419E-BE2B-D510BD84F7A7}" srcOrd="3" destOrd="0" parTransId="{38F208F8-DFE8-4807-AA3A-0B35CE68A9E1}" sibTransId="{AF2710D0-C91F-4E23-8272-391B98A2C407}"/>
    <dgm:cxn modelId="{3467F930-A54C-4CFB-AF91-C86F560829BD}" type="presOf" srcId="{F28E03ED-6F12-4FBA-A7AB-AFC996ED365C}" destId="{51866EEA-3E12-46D5-9F19-ED01832C823A}" srcOrd="0" destOrd="0" presId="urn:microsoft.com/office/officeart/2008/layout/LinedList"/>
    <dgm:cxn modelId="{43175339-8384-4584-B4ED-AFAAC37BBEB3}" type="presOf" srcId="{EFF65F69-510B-4E1A-B860-E271FDE37797}" destId="{82B64CCF-99DE-4027-BD02-8D6262751F03}" srcOrd="0" destOrd="0" presId="urn:microsoft.com/office/officeart/2008/layout/LinedList"/>
    <dgm:cxn modelId="{142E1A8B-4CE5-4F2C-9DA5-C040A570417F}" type="presOf" srcId="{7E1A582B-2F51-419E-BE2B-D510BD84F7A7}" destId="{9855B34C-9B99-4871-860A-4CCE699E5E2E}" srcOrd="0" destOrd="0" presId="urn:microsoft.com/office/officeart/2008/layout/LinedList"/>
    <dgm:cxn modelId="{7E5FADCC-727B-444E-96D3-200FA996FC06}" srcId="{DDD5E08D-EA16-4265-8ED5-A05281956BE9}" destId="{445600BD-50CD-43A1-A1B8-6A3DB3D748D9}" srcOrd="0" destOrd="0" parTransId="{B55CD371-AEA0-4583-B1B2-A52281B9BAEC}" sibTransId="{F78A8888-2177-49DE-99A2-B4A73707E7DC}"/>
    <dgm:cxn modelId="{1605B0D3-DB1C-45C0-8F25-91C8CEFCE263}" srcId="{DDD5E08D-EA16-4265-8ED5-A05281956BE9}" destId="{58351EC6-75DE-4733-A8A1-6F9603701987}" srcOrd="2" destOrd="0" parTransId="{F10E0321-D2C1-4E9C-B0C9-90B56DDF2268}" sibTransId="{C188698C-A800-40F6-95B4-6CB18B01B18F}"/>
    <dgm:cxn modelId="{8355AAE6-F7E0-46EB-B0D2-53634A0CE0D3}" type="presOf" srcId="{DDD5E08D-EA16-4265-8ED5-A05281956BE9}" destId="{0285789A-08E0-4AB0-968E-912D02C9B066}" srcOrd="0" destOrd="0" presId="urn:microsoft.com/office/officeart/2008/layout/LinedList"/>
    <dgm:cxn modelId="{F82A7A87-3446-438E-8C64-98CDBE9F650C}" type="presParOf" srcId="{0285789A-08E0-4AB0-968E-912D02C9B066}" destId="{366209EC-7FC3-4AB8-8184-8B769878432C}" srcOrd="0" destOrd="0" presId="urn:microsoft.com/office/officeart/2008/layout/LinedList"/>
    <dgm:cxn modelId="{432F5143-81A4-4B81-ABE5-ADCCFA65D3CB}" type="presParOf" srcId="{0285789A-08E0-4AB0-968E-912D02C9B066}" destId="{68B379CE-72E7-4DC6-BBAD-69FC522F2A05}" srcOrd="1" destOrd="0" presId="urn:microsoft.com/office/officeart/2008/layout/LinedList"/>
    <dgm:cxn modelId="{CB5FF192-7C99-4D19-956B-1E91F75595F9}" type="presParOf" srcId="{68B379CE-72E7-4DC6-BBAD-69FC522F2A05}" destId="{3463EE5F-26AC-490B-9196-4C8AF34ED476}" srcOrd="0" destOrd="0" presId="urn:microsoft.com/office/officeart/2008/layout/LinedList"/>
    <dgm:cxn modelId="{288488E2-8A54-4014-83D6-C46C0A63FFA2}" type="presParOf" srcId="{68B379CE-72E7-4DC6-BBAD-69FC522F2A05}" destId="{D9FFCC53-157C-48DC-891D-38FAEAC1DCD2}" srcOrd="1" destOrd="0" presId="urn:microsoft.com/office/officeart/2008/layout/LinedList"/>
    <dgm:cxn modelId="{E837F78D-FFFE-4DA6-B4BD-BCDF25170E57}" type="presParOf" srcId="{0285789A-08E0-4AB0-968E-912D02C9B066}" destId="{EAABD343-C246-46FA-B7D6-C3D54A9A526B}" srcOrd="2" destOrd="0" presId="urn:microsoft.com/office/officeart/2008/layout/LinedList"/>
    <dgm:cxn modelId="{14137F1E-53DB-4488-80C5-43798BF46154}" type="presParOf" srcId="{0285789A-08E0-4AB0-968E-912D02C9B066}" destId="{FA673270-7DD0-4498-995C-1B28C2BE4820}" srcOrd="3" destOrd="0" presId="urn:microsoft.com/office/officeart/2008/layout/LinedList"/>
    <dgm:cxn modelId="{E8C24C80-F535-4CE6-8928-D0E70564B947}" type="presParOf" srcId="{FA673270-7DD0-4498-995C-1B28C2BE4820}" destId="{51866EEA-3E12-46D5-9F19-ED01832C823A}" srcOrd="0" destOrd="0" presId="urn:microsoft.com/office/officeart/2008/layout/LinedList"/>
    <dgm:cxn modelId="{F34D95ED-378D-4D4C-B6E1-71DF68F81452}" type="presParOf" srcId="{FA673270-7DD0-4498-995C-1B28C2BE4820}" destId="{B52D19DE-2239-49AB-A1BC-3A77D6112A73}" srcOrd="1" destOrd="0" presId="urn:microsoft.com/office/officeart/2008/layout/LinedList"/>
    <dgm:cxn modelId="{3E983405-17AA-42A9-9F63-635774AA58B1}" type="presParOf" srcId="{0285789A-08E0-4AB0-968E-912D02C9B066}" destId="{38B09B44-EF0F-44E4-BCFF-EAD1D5600FFB}" srcOrd="4" destOrd="0" presId="urn:microsoft.com/office/officeart/2008/layout/LinedList"/>
    <dgm:cxn modelId="{53D6DF55-31F5-48E4-8E88-069E6F033F13}" type="presParOf" srcId="{0285789A-08E0-4AB0-968E-912D02C9B066}" destId="{0128745F-FC01-4A3D-BB0E-B89B2679B775}" srcOrd="5" destOrd="0" presId="urn:microsoft.com/office/officeart/2008/layout/LinedList"/>
    <dgm:cxn modelId="{16F75B38-97B9-4DE0-B3EF-64F974661440}" type="presParOf" srcId="{0128745F-FC01-4A3D-BB0E-B89B2679B775}" destId="{FF775FCC-0D09-41A2-BC22-9A3E3D88A372}" srcOrd="0" destOrd="0" presId="urn:microsoft.com/office/officeart/2008/layout/LinedList"/>
    <dgm:cxn modelId="{6EAB48D8-9151-4603-BB0F-7D539574EEC6}" type="presParOf" srcId="{0128745F-FC01-4A3D-BB0E-B89B2679B775}" destId="{79C46757-B2C2-48A9-82F2-45FC13916DE2}" srcOrd="1" destOrd="0" presId="urn:microsoft.com/office/officeart/2008/layout/LinedList"/>
    <dgm:cxn modelId="{6CD9B88D-07FD-4DFD-9AFE-E748C7A61FA0}" type="presParOf" srcId="{0285789A-08E0-4AB0-968E-912D02C9B066}" destId="{35A7C2FC-6952-40C6-8783-7CDEB6EFD0C7}" srcOrd="6" destOrd="0" presId="urn:microsoft.com/office/officeart/2008/layout/LinedList"/>
    <dgm:cxn modelId="{2731812B-454C-4392-837C-014499800A5D}" type="presParOf" srcId="{0285789A-08E0-4AB0-968E-912D02C9B066}" destId="{EFD74231-D7C1-472A-8791-74D0B8CB911B}" srcOrd="7" destOrd="0" presId="urn:microsoft.com/office/officeart/2008/layout/LinedList"/>
    <dgm:cxn modelId="{F7CC3E80-D510-4193-B346-3C12C4D3EA43}" type="presParOf" srcId="{EFD74231-D7C1-472A-8791-74D0B8CB911B}" destId="{9855B34C-9B99-4871-860A-4CCE699E5E2E}" srcOrd="0" destOrd="0" presId="urn:microsoft.com/office/officeart/2008/layout/LinedList"/>
    <dgm:cxn modelId="{FDBC076B-D9FA-4CAB-9DFF-CDEEE7B2FB01}" type="presParOf" srcId="{EFD74231-D7C1-472A-8791-74D0B8CB911B}" destId="{ED56EB23-5E52-4EE5-B9CF-50F11EC69FFC}" srcOrd="1" destOrd="0" presId="urn:microsoft.com/office/officeart/2008/layout/LinedList"/>
    <dgm:cxn modelId="{CE266531-9D52-433B-B34E-459C3511F273}" type="presParOf" srcId="{0285789A-08E0-4AB0-968E-912D02C9B066}" destId="{5700C848-5E47-44C0-B0AE-A1B9EDE41311}" srcOrd="8" destOrd="0" presId="urn:microsoft.com/office/officeart/2008/layout/LinedList"/>
    <dgm:cxn modelId="{5D814F41-886D-40B1-BEF9-88B19DFF96E5}" type="presParOf" srcId="{0285789A-08E0-4AB0-968E-912D02C9B066}" destId="{4E4D181E-8BA5-41A4-B43E-771211E68E8F}" srcOrd="9" destOrd="0" presId="urn:microsoft.com/office/officeart/2008/layout/LinedList"/>
    <dgm:cxn modelId="{DA751B25-B303-4853-B2DE-BA1B12F20E59}" type="presParOf" srcId="{4E4D181E-8BA5-41A4-B43E-771211E68E8F}" destId="{82B64CCF-99DE-4027-BD02-8D6262751F03}" srcOrd="0" destOrd="0" presId="urn:microsoft.com/office/officeart/2008/layout/LinedList"/>
    <dgm:cxn modelId="{6FC9252D-89AA-42A2-A997-56BFF3365186}" type="presParOf" srcId="{4E4D181E-8BA5-41A4-B43E-771211E68E8F}" destId="{E96A5865-CF3C-4B50-BF5A-3EB6F4361C1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543E79E-B517-4D15-9B92-ED623A82A236}" type="doc">
      <dgm:prSet loTypeId="urn:microsoft.com/office/officeart/2008/layout/LinedList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5A53A14-A14A-4875-901D-F6E06ECBADC0}">
      <dgm:prSet/>
      <dgm:spPr/>
      <dgm:t>
        <a:bodyPr/>
        <a:lstStyle/>
        <a:p>
          <a:r>
            <a:rPr lang="tr-TR" b="1" i="0" baseline="0"/>
            <a:t>Unsupervised wins:</a:t>
          </a:r>
          <a:r>
            <a:rPr lang="tr-TR" b="0" i="0" baseline="0"/>
            <a:t> </a:t>
          </a:r>
          <a:r>
            <a:rPr lang="tr-TR" b="0" i="1" baseline="0"/>
            <a:t>No labels, still 51 % fraud recall</a:t>
          </a:r>
          <a:endParaRPr lang="en-US"/>
        </a:p>
      </dgm:t>
    </dgm:pt>
    <dgm:pt modelId="{3B56FD73-2AEF-44D2-9CF8-7FBC68DBD5FC}" type="parTrans" cxnId="{C4DA05CC-A20E-44D5-9891-91EB8A5E0A07}">
      <dgm:prSet/>
      <dgm:spPr/>
      <dgm:t>
        <a:bodyPr/>
        <a:lstStyle/>
        <a:p>
          <a:endParaRPr lang="en-US"/>
        </a:p>
      </dgm:t>
    </dgm:pt>
    <dgm:pt modelId="{2A141B46-0500-48BF-AE21-D758354BFF27}" type="sibTrans" cxnId="{C4DA05CC-A20E-44D5-9891-91EB8A5E0A07}">
      <dgm:prSet/>
      <dgm:spPr/>
      <dgm:t>
        <a:bodyPr/>
        <a:lstStyle/>
        <a:p>
          <a:endParaRPr lang="en-US"/>
        </a:p>
      </dgm:t>
    </dgm:pt>
    <dgm:pt modelId="{1D386FC4-7E1D-42E0-B453-DF243321D271}">
      <dgm:prSet/>
      <dgm:spPr/>
      <dgm:t>
        <a:bodyPr/>
        <a:lstStyle/>
        <a:p>
          <a:r>
            <a:rPr lang="tr-TR" b="1" i="0" baseline="0"/>
            <a:t>Operational fit:</a:t>
          </a:r>
          <a:r>
            <a:rPr lang="tr-TR" b="0" i="0" baseline="0"/>
            <a:t> </a:t>
          </a:r>
          <a:r>
            <a:rPr lang="tr-TR" b="0" i="1" baseline="0"/>
            <a:t>≈ 8 alerts → 1 real fraud (12 % precision)</a:t>
          </a:r>
          <a:endParaRPr lang="en-US"/>
        </a:p>
      </dgm:t>
    </dgm:pt>
    <dgm:pt modelId="{2021B1BB-242D-4A01-BD70-ED1D750CB9C3}" type="parTrans" cxnId="{60173D3B-BFE6-4980-B7FA-A80DFAF6F5E6}">
      <dgm:prSet/>
      <dgm:spPr/>
      <dgm:t>
        <a:bodyPr/>
        <a:lstStyle/>
        <a:p>
          <a:endParaRPr lang="en-US"/>
        </a:p>
      </dgm:t>
    </dgm:pt>
    <dgm:pt modelId="{489F23AD-2D15-4C3E-BD3F-00C4100451CE}" type="sibTrans" cxnId="{60173D3B-BFE6-4980-B7FA-A80DFAF6F5E6}">
      <dgm:prSet/>
      <dgm:spPr/>
      <dgm:t>
        <a:bodyPr/>
        <a:lstStyle/>
        <a:p>
          <a:endParaRPr lang="en-US"/>
        </a:p>
      </dgm:t>
    </dgm:pt>
    <dgm:pt modelId="{F7EA1FDF-FD36-4B36-93E2-47ACE9388C73}">
      <dgm:prSet/>
      <dgm:spPr/>
      <dgm:t>
        <a:bodyPr/>
        <a:lstStyle/>
        <a:p>
          <a:r>
            <a:rPr lang="tr-TR" b="1" i="0" baseline="0"/>
            <a:t>Lightweight:</a:t>
          </a:r>
          <a:r>
            <a:rPr lang="tr-TR" b="0" i="0" baseline="0"/>
            <a:t> </a:t>
          </a:r>
          <a:r>
            <a:rPr lang="tr-TR" b="0" i="1" baseline="0"/>
            <a:t>300 trees · 10 s training · near-real-time scoring</a:t>
          </a:r>
          <a:endParaRPr lang="en-US"/>
        </a:p>
      </dgm:t>
    </dgm:pt>
    <dgm:pt modelId="{46A0B6CA-8157-44C4-B395-15F282469ACB}" type="parTrans" cxnId="{6DB55576-1C27-4EA4-806B-4124B1EFB85D}">
      <dgm:prSet/>
      <dgm:spPr/>
      <dgm:t>
        <a:bodyPr/>
        <a:lstStyle/>
        <a:p>
          <a:endParaRPr lang="en-US"/>
        </a:p>
      </dgm:t>
    </dgm:pt>
    <dgm:pt modelId="{2090C9A8-47BF-4320-AFE0-8FE5E8C39E62}" type="sibTrans" cxnId="{6DB55576-1C27-4EA4-806B-4124B1EFB85D}">
      <dgm:prSet/>
      <dgm:spPr/>
      <dgm:t>
        <a:bodyPr/>
        <a:lstStyle/>
        <a:p>
          <a:endParaRPr lang="en-US"/>
        </a:p>
      </dgm:t>
    </dgm:pt>
    <dgm:pt modelId="{44851675-B98C-4127-8C80-B7A336AF2F3F}">
      <dgm:prSet/>
      <dgm:spPr/>
      <dgm:t>
        <a:bodyPr/>
        <a:lstStyle/>
        <a:p>
          <a:r>
            <a:rPr lang="tr-TR" b="1" i="0" baseline="0"/>
            <a:t>Simple tuning knob:</a:t>
          </a:r>
          <a:r>
            <a:rPr lang="tr-TR" b="0" i="0" baseline="0"/>
            <a:t> </a:t>
          </a:r>
          <a:r>
            <a:rPr lang="tr-TR" b="0" i="1" baseline="0"/>
            <a:t>Threshold can move with risk appetite</a:t>
          </a:r>
          <a:endParaRPr lang="en-US"/>
        </a:p>
      </dgm:t>
    </dgm:pt>
    <dgm:pt modelId="{32BF89C7-1FDF-498D-9045-0D2609E3D09E}" type="parTrans" cxnId="{3F31EA77-CBA4-4053-A888-26EA881E1B23}">
      <dgm:prSet/>
      <dgm:spPr/>
      <dgm:t>
        <a:bodyPr/>
        <a:lstStyle/>
        <a:p>
          <a:endParaRPr lang="en-US"/>
        </a:p>
      </dgm:t>
    </dgm:pt>
    <dgm:pt modelId="{7D9415DE-C109-48A0-95E5-BFF53EA4EC97}" type="sibTrans" cxnId="{3F31EA77-CBA4-4053-A888-26EA881E1B23}">
      <dgm:prSet/>
      <dgm:spPr/>
      <dgm:t>
        <a:bodyPr/>
        <a:lstStyle/>
        <a:p>
          <a:endParaRPr lang="en-US"/>
        </a:p>
      </dgm:t>
    </dgm:pt>
    <dgm:pt modelId="{6A54D8E7-5B51-4EEC-957C-86A628782B49}">
      <dgm:prSet/>
      <dgm:spPr/>
      <dgm:t>
        <a:bodyPr/>
        <a:lstStyle/>
        <a:p>
          <a:r>
            <a:rPr lang="tr-TR" b="1" i="0" baseline="0"/>
            <a:t>Bottom-line:</a:t>
          </a:r>
          <a:r>
            <a:rPr lang="tr-TR" b="0" i="0" baseline="0"/>
            <a:t> </a:t>
          </a:r>
          <a:r>
            <a:rPr lang="tr-TR" b="0" i="1" baseline="0"/>
            <a:t>Isolation Forest reduces undiscovered fraud by ~50 % with an alert load analysts can handle.</a:t>
          </a:r>
          <a:endParaRPr lang="en-US"/>
        </a:p>
      </dgm:t>
    </dgm:pt>
    <dgm:pt modelId="{CC37EF06-9BCC-4A65-BA04-F04372ADF0B3}" type="parTrans" cxnId="{AE3EA824-6D86-49D5-9EF4-56940C95E645}">
      <dgm:prSet/>
      <dgm:spPr/>
      <dgm:t>
        <a:bodyPr/>
        <a:lstStyle/>
        <a:p>
          <a:endParaRPr lang="en-US"/>
        </a:p>
      </dgm:t>
    </dgm:pt>
    <dgm:pt modelId="{D5FC3419-132D-4DAC-B50D-D1C7B1CB58AC}" type="sibTrans" cxnId="{AE3EA824-6D86-49D5-9EF4-56940C95E645}">
      <dgm:prSet/>
      <dgm:spPr/>
      <dgm:t>
        <a:bodyPr/>
        <a:lstStyle/>
        <a:p>
          <a:endParaRPr lang="en-US"/>
        </a:p>
      </dgm:t>
    </dgm:pt>
    <dgm:pt modelId="{0B2F0D49-DCF3-4531-A78F-B904A8C3E3B3}" type="pres">
      <dgm:prSet presAssocID="{1543E79E-B517-4D15-9B92-ED623A82A236}" presName="vert0" presStyleCnt="0">
        <dgm:presLayoutVars>
          <dgm:dir/>
          <dgm:animOne val="branch"/>
          <dgm:animLvl val="lvl"/>
        </dgm:presLayoutVars>
      </dgm:prSet>
      <dgm:spPr/>
    </dgm:pt>
    <dgm:pt modelId="{BB3AA133-4CEF-4EE7-93B7-5DE6E6A82576}" type="pres">
      <dgm:prSet presAssocID="{35A53A14-A14A-4875-901D-F6E06ECBADC0}" presName="thickLine" presStyleLbl="alignNode1" presStyleIdx="0" presStyleCnt="5"/>
      <dgm:spPr/>
    </dgm:pt>
    <dgm:pt modelId="{8CAA18CF-B6B3-498B-AB7D-A68D617B7E89}" type="pres">
      <dgm:prSet presAssocID="{35A53A14-A14A-4875-901D-F6E06ECBADC0}" presName="horz1" presStyleCnt="0"/>
      <dgm:spPr/>
    </dgm:pt>
    <dgm:pt modelId="{C0F4219C-7337-4170-857C-F70FB0299F61}" type="pres">
      <dgm:prSet presAssocID="{35A53A14-A14A-4875-901D-F6E06ECBADC0}" presName="tx1" presStyleLbl="revTx" presStyleIdx="0" presStyleCnt="5"/>
      <dgm:spPr/>
    </dgm:pt>
    <dgm:pt modelId="{F868692B-0F1C-4C73-BB85-D89CC959DCB2}" type="pres">
      <dgm:prSet presAssocID="{35A53A14-A14A-4875-901D-F6E06ECBADC0}" presName="vert1" presStyleCnt="0"/>
      <dgm:spPr/>
    </dgm:pt>
    <dgm:pt modelId="{7D23417A-30C2-429E-84B6-03C9C713729D}" type="pres">
      <dgm:prSet presAssocID="{1D386FC4-7E1D-42E0-B453-DF243321D271}" presName="thickLine" presStyleLbl="alignNode1" presStyleIdx="1" presStyleCnt="5"/>
      <dgm:spPr/>
    </dgm:pt>
    <dgm:pt modelId="{9546FFA2-373E-41F3-BE27-0D51D5F28508}" type="pres">
      <dgm:prSet presAssocID="{1D386FC4-7E1D-42E0-B453-DF243321D271}" presName="horz1" presStyleCnt="0"/>
      <dgm:spPr/>
    </dgm:pt>
    <dgm:pt modelId="{8F39258F-6128-4413-87A2-5697B028A1E2}" type="pres">
      <dgm:prSet presAssocID="{1D386FC4-7E1D-42E0-B453-DF243321D271}" presName="tx1" presStyleLbl="revTx" presStyleIdx="1" presStyleCnt="5"/>
      <dgm:spPr/>
    </dgm:pt>
    <dgm:pt modelId="{2B547D1A-D399-4466-93DC-0BE6B17B8109}" type="pres">
      <dgm:prSet presAssocID="{1D386FC4-7E1D-42E0-B453-DF243321D271}" presName="vert1" presStyleCnt="0"/>
      <dgm:spPr/>
    </dgm:pt>
    <dgm:pt modelId="{295AA1FC-BDDA-482F-8ECD-BA3C25ACA460}" type="pres">
      <dgm:prSet presAssocID="{F7EA1FDF-FD36-4B36-93E2-47ACE9388C73}" presName="thickLine" presStyleLbl="alignNode1" presStyleIdx="2" presStyleCnt="5"/>
      <dgm:spPr/>
    </dgm:pt>
    <dgm:pt modelId="{4AB9CCA1-2FC2-41D3-8D0F-B35218C1804D}" type="pres">
      <dgm:prSet presAssocID="{F7EA1FDF-FD36-4B36-93E2-47ACE9388C73}" presName="horz1" presStyleCnt="0"/>
      <dgm:spPr/>
    </dgm:pt>
    <dgm:pt modelId="{632B2B30-3F92-44C7-A0F5-95AD3151979A}" type="pres">
      <dgm:prSet presAssocID="{F7EA1FDF-FD36-4B36-93E2-47ACE9388C73}" presName="tx1" presStyleLbl="revTx" presStyleIdx="2" presStyleCnt="5"/>
      <dgm:spPr/>
    </dgm:pt>
    <dgm:pt modelId="{B45F3490-724B-465F-A65D-49A6A035F5E2}" type="pres">
      <dgm:prSet presAssocID="{F7EA1FDF-FD36-4B36-93E2-47ACE9388C73}" presName="vert1" presStyleCnt="0"/>
      <dgm:spPr/>
    </dgm:pt>
    <dgm:pt modelId="{18478709-D781-4D22-BD58-F409627BB7BA}" type="pres">
      <dgm:prSet presAssocID="{44851675-B98C-4127-8C80-B7A336AF2F3F}" presName="thickLine" presStyleLbl="alignNode1" presStyleIdx="3" presStyleCnt="5"/>
      <dgm:spPr/>
    </dgm:pt>
    <dgm:pt modelId="{F20710CE-CF3D-4583-B071-2F7849F5596E}" type="pres">
      <dgm:prSet presAssocID="{44851675-B98C-4127-8C80-B7A336AF2F3F}" presName="horz1" presStyleCnt="0"/>
      <dgm:spPr/>
    </dgm:pt>
    <dgm:pt modelId="{10A7697C-6C4B-4263-B4E1-43FDDF72A4AE}" type="pres">
      <dgm:prSet presAssocID="{44851675-B98C-4127-8C80-B7A336AF2F3F}" presName="tx1" presStyleLbl="revTx" presStyleIdx="3" presStyleCnt="5"/>
      <dgm:spPr/>
    </dgm:pt>
    <dgm:pt modelId="{212649F3-98D3-4B77-A802-A78C13A0BE96}" type="pres">
      <dgm:prSet presAssocID="{44851675-B98C-4127-8C80-B7A336AF2F3F}" presName="vert1" presStyleCnt="0"/>
      <dgm:spPr/>
    </dgm:pt>
    <dgm:pt modelId="{6859A7A9-A1CC-42CF-B474-497221588460}" type="pres">
      <dgm:prSet presAssocID="{6A54D8E7-5B51-4EEC-957C-86A628782B49}" presName="thickLine" presStyleLbl="alignNode1" presStyleIdx="4" presStyleCnt="5"/>
      <dgm:spPr/>
    </dgm:pt>
    <dgm:pt modelId="{5C5D76F4-71E5-4DAC-9ABB-8C34DF6BA4A0}" type="pres">
      <dgm:prSet presAssocID="{6A54D8E7-5B51-4EEC-957C-86A628782B49}" presName="horz1" presStyleCnt="0"/>
      <dgm:spPr/>
    </dgm:pt>
    <dgm:pt modelId="{07AD29F7-524A-4154-8F3F-C3CD4A930240}" type="pres">
      <dgm:prSet presAssocID="{6A54D8E7-5B51-4EEC-957C-86A628782B49}" presName="tx1" presStyleLbl="revTx" presStyleIdx="4" presStyleCnt="5"/>
      <dgm:spPr/>
    </dgm:pt>
    <dgm:pt modelId="{42BAA170-B221-4B8C-8272-650183E60DE3}" type="pres">
      <dgm:prSet presAssocID="{6A54D8E7-5B51-4EEC-957C-86A628782B49}" presName="vert1" presStyleCnt="0"/>
      <dgm:spPr/>
    </dgm:pt>
  </dgm:ptLst>
  <dgm:cxnLst>
    <dgm:cxn modelId="{AE3EA824-6D86-49D5-9EF4-56940C95E645}" srcId="{1543E79E-B517-4D15-9B92-ED623A82A236}" destId="{6A54D8E7-5B51-4EEC-957C-86A628782B49}" srcOrd="4" destOrd="0" parTransId="{CC37EF06-9BCC-4A65-BA04-F04372ADF0B3}" sibTransId="{D5FC3419-132D-4DAC-B50D-D1C7B1CB58AC}"/>
    <dgm:cxn modelId="{43CE832A-C539-43BF-92B0-724F04E1019B}" type="presOf" srcId="{F7EA1FDF-FD36-4B36-93E2-47ACE9388C73}" destId="{632B2B30-3F92-44C7-A0F5-95AD3151979A}" srcOrd="0" destOrd="0" presId="urn:microsoft.com/office/officeart/2008/layout/LinedList"/>
    <dgm:cxn modelId="{89FD9834-EB75-42EE-AB2E-F11DC82E9142}" type="presOf" srcId="{1543E79E-B517-4D15-9B92-ED623A82A236}" destId="{0B2F0D49-DCF3-4531-A78F-B904A8C3E3B3}" srcOrd="0" destOrd="0" presId="urn:microsoft.com/office/officeart/2008/layout/LinedList"/>
    <dgm:cxn modelId="{60173D3B-BFE6-4980-B7FA-A80DFAF6F5E6}" srcId="{1543E79E-B517-4D15-9B92-ED623A82A236}" destId="{1D386FC4-7E1D-42E0-B453-DF243321D271}" srcOrd="1" destOrd="0" parTransId="{2021B1BB-242D-4A01-BD70-ED1D750CB9C3}" sibTransId="{489F23AD-2D15-4C3E-BD3F-00C4100451CE}"/>
    <dgm:cxn modelId="{8574593E-AF8A-4D30-9F44-27DAE8AEA650}" type="presOf" srcId="{44851675-B98C-4127-8C80-B7A336AF2F3F}" destId="{10A7697C-6C4B-4263-B4E1-43FDDF72A4AE}" srcOrd="0" destOrd="0" presId="urn:microsoft.com/office/officeart/2008/layout/LinedList"/>
    <dgm:cxn modelId="{6DB55576-1C27-4EA4-806B-4124B1EFB85D}" srcId="{1543E79E-B517-4D15-9B92-ED623A82A236}" destId="{F7EA1FDF-FD36-4B36-93E2-47ACE9388C73}" srcOrd="2" destOrd="0" parTransId="{46A0B6CA-8157-44C4-B395-15F282469ACB}" sibTransId="{2090C9A8-47BF-4320-AFE0-8FE5E8C39E62}"/>
    <dgm:cxn modelId="{3F31EA77-CBA4-4053-A888-26EA881E1B23}" srcId="{1543E79E-B517-4D15-9B92-ED623A82A236}" destId="{44851675-B98C-4127-8C80-B7A336AF2F3F}" srcOrd="3" destOrd="0" parTransId="{32BF89C7-1FDF-498D-9045-0D2609E3D09E}" sibTransId="{7D9415DE-C109-48A0-95E5-BFF53EA4EC97}"/>
    <dgm:cxn modelId="{41040F58-669F-42C6-9B61-5CA2A51E9614}" type="presOf" srcId="{6A54D8E7-5B51-4EEC-957C-86A628782B49}" destId="{07AD29F7-524A-4154-8F3F-C3CD4A930240}" srcOrd="0" destOrd="0" presId="urn:microsoft.com/office/officeart/2008/layout/LinedList"/>
    <dgm:cxn modelId="{C9941F9D-F826-4002-A248-B8C422B99EF9}" type="presOf" srcId="{35A53A14-A14A-4875-901D-F6E06ECBADC0}" destId="{C0F4219C-7337-4170-857C-F70FB0299F61}" srcOrd="0" destOrd="0" presId="urn:microsoft.com/office/officeart/2008/layout/LinedList"/>
    <dgm:cxn modelId="{C4DA05CC-A20E-44D5-9891-91EB8A5E0A07}" srcId="{1543E79E-B517-4D15-9B92-ED623A82A236}" destId="{35A53A14-A14A-4875-901D-F6E06ECBADC0}" srcOrd="0" destOrd="0" parTransId="{3B56FD73-2AEF-44D2-9CF8-7FBC68DBD5FC}" sibTransId="{2A141B46-0500-48BF-AE21-D758354BFF27}"/>
    <dgm:cxn modelId="{9D88C6EC-8F38-4A00-901C-52C76B2DDEBC}" type="presOf" srcId="{1D386FC4-7E1D-42E0-B453-DF243321D271}" destId="{8F39258F-6128-4413-87A2-5697B028A1E2}" srcOrd="0" destOrd="0" presId="urn:microsoft.com/office/officeart/2008/layout/LinedList"/>
    <dgm:cxn modelId="{4C84327D-3C84-4319-A828-7B03EFAFECEC}" type="presParOf" srcId="{0B2F0D49-DCF3-4531-A78F-B904A8C3E3B3}" destId="{BB3AA133-4CEF-4EE7-93B7-5DE6E6A82576}" srcOrd="0" destOrd="0" presId="urn:microsoft.com/office/officeart/2008/layout/LinedList"/>
    <dgm:cxn modelId="{210B5EE7-CA1D-4AF9-82CE-98715C5352C8}" type="presParOf" srcId="{0B2F0D49-DCF3-4531-A78F-B904A8C3E3B3}" destId="{8CAA18CF-B6B3-498B-AB7D-A68D617B7E89}" srcOrd="1" destOrd="0" presId="urn:microsoft.com/office/officeart/2008/layout/LinedList"/>
    <dgm:cxn modelId="{1023E378-6BDE-4DC4-8AD4-41C32C13B52C}" type="presParOf" srcId="{8CAA18CF-B6B3-498B-AB7D-A68D617B7E89}" destId="{C0F4219C-7337-4170-857C-F70FB0299F61}" srcOrd="0" destOrd="0" presId="urn:microsoft.com/office/officeart/2008/layout/LinedList"/>
    <dgm:cxn modelId="{B0089B84-C90D-43BA-A3ED-BA39DC92D019}" type="presParOf" srcId="{8CAA18CF-B6B3-498B-AB7D-A68D617B7E89}" destId="{F868692B-0F1C-4C73-BB85-D89CC959DCB2}" srcOrd="1" destOrd="0" presId="urn:microsoft.com/office/officeart/2008/layout/LinedList"/>
    <dgm:cxn modelId="{5E1FB849-C4A6-4073-B981-4DF40A342546}" type="presParOf" srcId="{0B2F0D49-DCF3-4531-A78F-B904A8C3E3B3}" destId="{7D23417A-30C2-429E-84B6-03C9C713729D}" srcOrd="2" destOrd="0" presId="urn:microsoft.com/office/officeart/2008/layout/LinedList"/>
    <dgm:cxn modelId="{98DD92DA-C576-42BB-BB15-899F616AA62E}" type="presParOf" srcId="{0B2F0D49-DCF3-4531-A78F-B904A8C3E3B3}" destId="{9546FFA2-373E-41F3-BE27-0D51D5F28508}" srcOrd="3" destOrd="0" presId="urn:microsoft.com/office/officeart/2008/layout/LinedList"/>
    <dgm:cxn modelId="{13EAC01B-ED0C-49B3-9B6B-2BBFD846B565}" type="presParOf" srcId="{9546FFA2-373E-41F3-BE27-0D51D5F28508}" destId="{8F39258F-6128-4413-87A2-5697B028A1E2}" srcOrd="0" destOrd="0" presId="urn:microsoft.com/office/officeart/2008/layout/LinedList"/>
    <dgm:cxn modelId="{637A4027-4425-4BDB-9769-3033060E94A1}" type="presParOf" srcId="{9546FFA2-373E-41F3-BE27-0D51D5F28508}" destId="{2B547D1A-D399-4466-93DC-0BE6B17B8109}" srcOrd="1" destOrd="0" presId="urn:microsoft.com/office/officeart/2008/layout/LinedList"/>
    <dgm:cxn modelId="{D4F00493-7264-4273-96A0-0F71197B13E7}" type="presParOf" srcId="{0B2F0D49-DCF3-4531-A78F-B904A8C3E3B3}" destId="{295AA1FC-BDDA-482F-8ECD-BA3C25ACA460}" srcOrd="4" destOrd="0" presId="urn:microsoft.com/office/officeart/2008/layout/LinedList"/>
    <dgm:cxn modelId="{81ECF0A1-0CFD-4F7E-8631-ECBA6A666476}" type="presParOf" srcId="{0B2F0D49-DCF3-4531-A78F-B904A8C3E3B3}" destId="{4AB9CCA1-2FC2-41D3-8D0F-B35218C1804D}" srcOrd="5" destOrd="0" presId="urn:microsoft.com/office/officeart/2008/layout/LinedList"/>
    <dgm:cxn modelId="{C0000A52-2C9E-44B3-A658-589905675830}" type="presParOf" srcId="{4AB9CCA1-2FC2-41D3-8D0F-B35218C1804D}" destId="{632B2B30-3F92-44C7-A0F5-95AD3151979A}" srcOrd="0" destOrd="0" presId="urn:microsoft.com/office/officeart/2008/layout/LinedList"/>
    <dgm:cxn modelId="{F90FC4A0-D926-4DBB-9C19-33D10AD72872}" type="presParOf" srcId="{4AB9CCA1-2FC2-41D3-8D0F-B35218C1804D}" destId="{B45F3490-724B-465F-A65D-49A6A035F5E2}" srcOrd="1" destOrd="0" presId="urn:microsoft.com/office/officeart/2008/layout/LinedList"/>
    <dgm:cxn modelId="{07B51C6A-576C-46E4-B566-089FB288B295}" type="presParOf" srcId="{0B2F0D49-DCF3-4531-A78F-B904A8C3E3B3}" destId="{18478709-D781-4D22-BD58-F409627BB7BA}" srcOrd="6" destOrd="0" presId="urn:microsoft.com/office/officeart/2008/layout/LinedList"/>
    <dgm:cxn modelId="{F0A7D5B6-C428-4C74-9275-6C41083FB2FE}" type="presParOf" srcId="{0B2F0D49-DCF3-4531-A78F-B904A8C3E3B3}" destId="{F20710CE-CF3D-4583-B071-2F7849F5596E}" srcOrd="7" destOrd="0" presId="urn:microsoft.com/office/officeart/2008/layout/LinedList"/>
    <dgm:cxn modelId="{7FC1ADA6-16AC-4F5A-A3D4-1BAADEEE93CC}" type="presParOf" srcId="{F20710CE-CF3D-4583-B071-2F7849F5596E}" destId="{10A7697C-6C4B-4263-B4E1-43FDDF72A4AE}" srcOrd="0" destOrd="0" presId="urn:microsoft.com/office/officeart/2008/layout/LinedList"/>
    <dgm:cxn modelId="{DCBAB526-73AC-44A2-AAA5-57927EE8240F}" type="presParOf" srcId="{F20710CE-CF3D-4583-B071-2F7849F5596E}" destId="{212649F3-98D3-4B77-A802-A78C13A0BE96}" srcOrd="1" destOrd="0" presId="urn:microsoft.com/office/officeart/2008/layout/LinedList"/>
    <dgm:cxn modelId="{F2A983B1-1813-4267-8324-8F0033B9E5A7}" type="presParOf" srcId="{0B2F0D49-DCF3-4531-A78F-B904A8C3E3B3}" destId="{6859A7A9-A1CC-42CF-B474-497221588460}" srcOrd="8" destOrd="0" presId="urn:microsoft.com/office/officeart/2008/layout/LinedList"/>
    <dgm:cxn modelId="{0DF8CB6A-5051-49EB-AD78-53CD15B7CC0F}" type="presParOf" srcId="{0B2F0D49-DCF3-4531-A78F-B904A8C3E3B3}" destId="{5C5D76F4-71E5-4DAC-9ABB-8C34DF6BA4A0}" srcOrd="9" destOrd="0" presId="urn:microsoft.com/office/officeart/2008/layout/LinedList"/>
    <dgm:cxn modelId="{19532A60-0EB3-4098-8AB4-74F4458073C4}" type="presParOf" srcId="{5C5D76F4-71E5-4DAC-9ABB-8C34DF6BA4A0}" destId="{07AD29F7-524A-4154-8F3F-C3CD4A930240}" srcOrd="0" destOrd="0" presId="urn:microsoft.com/office/officeart/2008/layout/LinedList"/>
    <dgm:cxn modelId="{CB01960C-BBE9-4A2B-A2C4-AC616C48FEB1}" type="presParOf" srcId="{5C5D76F4-71E5-4DAC-9ABB-8C34DF6BA4A0}" destId="{42BAA170-B221-4B8C-8272-650183E60DE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B8666E-13F3-4B6D-A365-805AB26AEE68}">
      <dsp:nvSpPr>
        <dsp:cNvPr id="0" name=""/>
        <dsp:cNvSpPr/>
      </dsp:nvSpPr>
      <dsp:spPr>
        <a:xfrm>
          <a:off x="0" y="471251"/>
          <a:ext cx="7590504" cy="1216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1" i="0" kern="1200" baseline="0" dirty="0" err="1"/>
            <a:t>Only</a:t>
          </a:r>
          <a:r>
            <a:rPr lang="tr-TR" sz="2000" b="1" i="0" kern="1200" baseline="0" dirty="0"/>
            <a:t> 0.17 % of </a:t>
          </a:r>
          <a:r>
            <a:rPr lang="tr-TR" sz="2000" b="1" i="0" kern="1200" baseline="0" dirty="0" err="1"/>
            <a:t>credit-card</a:t>
          </a:r>
          <a:r>
            <a:rPr lang="tr-TR" sz="2000" b="1" i="0" kern="1200" baseline="0" dirty="0"/>
            <a:t> </a:t>
          </a:r>
          <a:r>
            <a:rPr lang="tr-TR" sz="2000" b="1" i="0" kern="1200" baseline="0" dirty="0" err="1"/>
            <a:t>transactions</a:t>
          </a:r>
          <a:r>
            <a:rPr lang="tr-TR" sz="2000" b="1" i="0" kern="1200" baseline="0" dirty="0"/>
            <a:t> </a:t>
          </a:r>
          <a:r>
            <a:rPr lang="tr-TR" sz="2000" b="1" i="0" kern="1200" baseline="0" dirty="0" err="1"/>
            <a:t>are</a:t>
          </a:r>
          <a:r>
            <a:rPr lang="tr-TR" sz="2000" b="1" i="0" kern="1200" baseline="0" dirty="0"/>
            <a:t> </a:t>
          </a:r>
          <a:r>
            <a:rPr lang="tr-TR" sz="2000" b="1" i="0" kern="1200" baseline="0" dirty="0" err="1"/>
            <a:t>fraudulent</a:t>
          </a:r>
          <a:r>
            <a:rPr lang="tr-TR" sz="2000" b="1" i="0" kern="1200" baseline="0" dirty="0"/>
            <a:t>.</a:t>
          </a:r>
          <a:endParaRPr lang="en-US" sz="2000" kern="1200" dirty="0"/>
        </a:p>
      </dsp:txBody>
      <dsp:txXfrm>
        <a:off x="59399" y="530650"/>
        <a:ext cx="7471706" cy="1098002"/>
      </dsp:txXfrm>
    </dsp:sp>
    <dsp:sp modelId="{85D8DB0A-5BB4-459B-B6AE-5D9BB358524C}">
      <dsp:nvSpPr>
        <dsp:cNvPr id="0" name=""/>
        <dsp:cNvSpPr/>
      </dsp:nvSpPr>
      <dsp:spPr>
        <a:xfrm>
          <a:off x="0" y="1875251"/>
          <a:ext cx="7590504" cy="121680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b="1" i="0" kern="1200" baseline="0" dirty="0"/>
            <a:t>High </a:t>
          </a:r>
          <a:r>
            <a:rPr lang="tr-TR" sz="1600" b="1" i="0" kern="1200" baseline="0" dirty="0" err="1"/>
            <a:t>volume</a:t>
          </a:r>
          <a:r>
            <a:rPr lang="tr-TR" sz="1600" b="1" i="0" kern="1200" baseline="0" dirty="0"/>
            <a:t> + </a:t>
          </a:r>
          <a:r>
            <a:rPr lang="tr-TR" sz="1600" b="1" i="0" kern="1200" baseline="0" dirty="0" err="1"/>
            <a:t>tiny</a:t>
          </a:r>
          <a:r>
            <a:rPr lang="tr-TR" sz="1600" b="1" i="0" kern="1200" baseline="0" dirty="0"/>
            <a:t> </a:t>
          </a:r>
          <a:r>
            <a:rPr lang="tr-TR" sz="1600" b="1" i="0" kern="1200" baseline="0" dirty="0" err="1"/>
            <a:t>anomaly</a:t>
          </a:r>
          <a:r>
            <a:rPr lang="tr-TR" sz="1600" b="1" i="0" kern="1200" baseline="0" dirty="0"/>
            <a:t> rate → </a:t>
          </a:r>
          <a:r>
            <a:rPr lang="tr-TR" sz="1600" b="1" i="0" kern="1200" baseline="0" dirty="0" err="1"/>
            <a:t>manual</a:t>
          </a:r>
          <a:r>
            <a:rPr lang="tr-TR" sz="1600" b="1" i="0" kern="1200" baseline="0" dirty="0"/>
            <a:t> </a:t>
          </a:r>
          <a:r>
            <a:rPr lang="tr-TR" sz="1600" b="1" i="0" kern="1200" baseline="0" dirty="0" err="1"/>
            <a:t>detection</a:t>
          </a:r>
          <a:r>
            <a:rPr lang="tr-TR" sz="1600" b="1" i="0" kern="1200" baseline="0" dirty="0"/>
            <a:t> is </a:t>
          </a:r>
          <a:r>
            <a:rPr lang="tr-TR" sz="1600" b="1" i="0" kern="1200" baseline="0" dirty="0" err="1"/>
            <a:t>impossible</a:t>
          </a:r>
          <a:r>
            <a:rPr lang="tr-TR" sz="1600" b="1" i="0" kern="1200" baseline="0" dirty="0"/>
            <a:t>.</a:t>
          </a:r>
          <a:endParaRPr lang="en-US" sz="1600" kern="1200" dirty="0"/>
        </a:p>
      </dsp:txBody>
      <dsp:txXfrm>
        <a:off x="59399" y="1934650"/>
        <a:ext cx="7471706" cy="1098002"/>
      </dsp:txXfrm>
    </dsp:sp>
    <dsp:sp modelId="{2B1CDBA8-D11A-4328-8A56-9D3667D9D547}">
      <dsp:nvSpPr>
        <dsp:cNvPr id="0" name=""/>
        <dsp:cNvSpPr/>
      </dsp:nvSpPr>
      <dsp:spPr>
        <a:xfrm>
          <a:off x="0" y="3279251"/>
          <a:ext cx="7590504" cy="121680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1" i="0" kern="1200" baseline="0" dirty="0" err="1"/>
            <a:t>False</a:t>
          </a:r>
          <a:r>
            <a:rPr lang="tr-TR" sz="2000" b="1" i="0" kern="1200" baseline="0" dirty="0"/>
            <a:t> </a:t>
          </a:r>
          <a:r>
            <a:rPr lang="tr-TR" sz="2000" b="1" i="0" kern="1200" baseline="0" dirty="0" err="1"/>
            <a:t>negatives</a:t>
          </a:r>
          <a:r>
            <a:rPr lang="tr-TR" sz="2000" b="1" i="0" kern="1200" baseline="0" dirty="0"/>
            <a:t> (</a:t>
          </a:r>
          <a:r>
            <a:rPr lang="tr-TR" sz="2000" b="1" i="0" kern="1200" baseline="0" dirty="0" err="1"/>
            <a:t>missed</a:t>
          </a:r>
          <a:r>
            <a:rPr lang="tr-TR" sz="2000" b="1" i="0" kern="1200" baseline="0" dirty="0"/>
            <a:t> </a:t>
          </a:r>
          <a:r>
            <a:rPr lang="tr-TR" sz="2000" b="1" i="0" kern="1200" baseline="0" dirty="0" err="1"/>
            <a:t>fraud</a:t>
          </a:r>
          <a:r>
            <a:rPr lang="tr-TR" sz="2000" b="1" i="0" kern="1200" baseline="0" dirty="0"/>
            <a:t>) = </a:t>
          </a:r>
          <a:r>
            <a:rPr lang="tr-TR" sz="2000" b="1" i="0" kern="1200" baseline="0" dirty="0" err="1"/>
            <a:t>direct</a:t>
          </a:r>
          <a:r>
            <a:rPr lang="tr-TR" sz="2000" b="1" i="0" kern="1200" baseline="0" dirty="0"/>
            <a:t> </a:t>
          </a:r>
          <a:r>
            <a:rPr lang="tr-TR" sz="2000" b="1" i="0" kern="1200" baseline="0" dirty="0" err="1"/>
            <a:t>financial</a:t>
          </a:r>
          <a:r>
            <a:rPr lang="tr-TR" sz="2000" b="1" i="0" kern="1200" baseline="0" dirty="0"/>
            <a:t> </a:t>
          </a:r>
          <a:r>
            <a:rPr lang="tr-TR" sz="2000" b="1" i="0" kern="1200" baseline="0" dirty="0" err="1"/>
            <a:t>loss</a:t>
          </a:r>
          <a:r>
            <a:rPr lang="tr-TR" sz="2000" b="1" i="0" kern="1200" baseline="0" dirty="0"/>
            <a:t>.</a:t>
          </a:r>
          <a:endParaRPr lang="en-US" sz="2000" kern="1200" dirty="0"/>
        </a:p>
      </dsp:txBody>
      <dsp:txXfrm>
        <a:off x="59399" y="3338650"/>
        <a:ext cx="7471706" cy="1098002"/>
      </dsp:txXfrm>
    </dsp:sp>
    <dsp:sp modelId="{E25E484E-4532-4DD6-A1F7-E80A4D9C65DB}">
      <dsp:nvSpPr>
        <dsp:cNvPr id="0" name=""/>
        <dsp:cNvSpPr/>
      </dsp:nvSpPr>
      <dsp:spPr>
        <a:xfrm>
          <a:off x="0" y="4683251"/>
          <a:ext cx="7590504" cy="12168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b="1" i="0" kern="1200" baseline="0" dirty="0" err="1"/>
            <a:t>False</a:t>
          </a:r>
          <a:r>
            <a:rPr lang="tr-TR" sz="1800" b="1" i="0" kern="1200" baseline="0" dirty="0"/>
            <a:t> </a:t>
          </a:r>
          <a:r>
            <a:rPr lang="tr-TR" sz="1800" b="1" i="0" kern="1200" baseline="0" dirty="0" err="1"/>
            <a:t>positives</a:t>
          </a:r>
          <a:r>
            <a:rPr lang="tr-TR" sz="1800" b="1" i="0" kern="1200" baseline="0" dirty="0"/>
            <a:t> (</a:t>
          </a:r>
          <a:r>
            <a:rPr lang="tr-TR" sz="1800" b="1" i="0" kern="1200" baseline="0" dirty="0" err="1"/>
            <a:t>wrong</a:t>
          </a:r>
          <a:r>
            <a:rPr lang="tr-TR" sz="1800" b="1" i="0" kern="1200" baseline="0" dirty="0"/>
            <a:t> </a:t>
          </a:r>
          <a:r>
            <a:rPr lang="tr-TR" sz="1800" b="1" i="0" kern="1200" baseline="0" dirty="0" err="1"/>
            <a:t>alarms</a:t>
          </a:r>
          <a:r>
            <a:rPr lang="tr-TR" sz="1800" b="1" i="0" kern="1200" baseline="0" dirty="0"/>
            <a:t>) = </a:t>
          </a:r>
          <a:r>
            <a:rPr lang="tr-TR" sz="1800" b="1" i="0" kern="1200" baseline="0" dirty="0" err="1"/>
            <a:t>customer</a:t>
          </a:r>
          <a:r>
            <a:rPr lang="tr-TR" sz="1800" b="1" i="0" kern="1200" baseline="0" dirty="0"/>
            <a:t> </a:t>
          </a:r>
          <a:r>
            <a:rPr lang="tr-TR" sz="1800" b="1" i="0" kern="1200" baseline="0" dirty="0" err="1"/>
            <a:t>frustration</a:t>
          </a:r>
          <a:r>
            <a:rPr lang="tr-TR" sz="1800" b="1" i="0" kern="1200" baseline="0" dirty="0"/>
            <a:t> </a:t>
          </a:r>
          <a:r>
            <a:rPr lang="tr-TR" sz="1800" b="1" i="0" kern="1200" baseline="0" dirty="0" err="1"/>
            <a:t>and</a:t>
          </a:r>
          <a:r>
            <a:rPr lang="tr-TR" sz="1800" b="1" i="0" kern="1200" baseline="0" dirty="0"/>
            <a:t> </a:t>
          </a:r>
          <a:r>
            <a:rPr lang="tr-TR" sz="1800" b="1" i="0" kern="1200" baseline="0" dirty="0" err="1"/>
            <a:t>extra</a:t>
          </a:r>
          <a:r>
            <a:rPr lang="tr-TR" sz="1800" b="1" i="0" kern="1200" baseline="0" dirty="0"/>
            <a:t> </a:t>
          </a:r>
          <a:r>
            <a:rPr lang="tr-TR" sz="1800" b="1" i="0" kern="1200" baseline="0" dirty="0" err="1"/>
            <a:t>costs</a:t>
          </a:r>
          <a:r>
            <a:rPr lang="tr-TR" sz="1800" b="1" i="0" kern="1200" baseline="0" dirty="0"/>
            <a:t>.</a:t>
          </a:r>
          <a:endParaRPr lang="en-US" sz="1800" kern="1200" dirty="0"/>
        </a:p>
      </dsp:txBody>
      <dsp:txXfrm>
        <a:off x="59399" y="4742650"/>
        <a:ext cx="7471706" cy="1098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4573A-86F4-4549-BC73-F3FDED792F59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B5DFEB-023B-4982-900E-3DE22A50823B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3D259-F5A1-425F-BD6B-05055ADC604D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i="0" kern="1200" baseline="0"/>
            <a:t>Rows &amp; Features:</a:t>
          </a:r>
          <a:r>
            <a:rPr lang="tr-TR" sz="1900" b="0" i="0" kern="1200" baseline="0"/>
            <a:t> 284 807 transactions × 30 PCA-compressed features + Time + Amount.</a:t>
          </a:r>
          <a:endParaRPr lang="en-US" sz="1900" kern="1200"/>
        </a:p>
      </dsp:txBody>
      <dsp:txXfrm>
        <a:off x="1059754" y="4307"/>
        <a:ext cx="5304469" cy="917536"/>
      </dsp:txXfrm>
    </dsp:sp>
    <dsp:sp modelId="{E1D7FE07-CB35-4CA2-8FAA-79A27AEA60C0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516BEC-73C2-4DA5-B702-1665B952B531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C581C-1964-4A9A-9A71-51031A726EF1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i="0" kern="1200" baseline="0"/>
            <a:t>Label:</a:t>
          </a:r>
          <a:r>
            <a:rPr lang="tr-TR" sz="1900" b="0" i="0" kern="1200" baseline="0"/>
            <a:t> Class (0 = legit, 1 = fraud).</a:t>
          </a:r>
          <a:endParaRPr lang="en-US" sz="1900" kern="1200"/>
        </a:p>
      </dsp:txBody>
      <dsp:txXfrm>
        <a:off x="1059754" y="1151227"/>
        <a:ext cx="5304469" cy="917536"/>
      </dsp:txXfrm>
    </dsp:sp>
    <dsp:sp modelId="{C6E1A912-8AE8-4468-B5C0-1730C9CDBB51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271B6B-CFBF-41EF-9E5A-3B8135104E9F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79FBC3-81D8-4431-A429-1158EC3648EC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i="0" kern="1200" baseline="0"/>
            <a:t>Class Imbalance:</a:t>
          </a:r>
          <a:r>
            <a:rPr lang="tr-TR" sz="1900" b="0" i="0" kern="1200" baseline="0"/>
            <a:t> 492 frauds → </a:t>
          </a:r>
          <a:r>
            <a:rPr lang="tr-TR" sz="1900" b="1" i="0" kern="1200" baseline="0"/>
            <a:t>0.17 %</a:t>
          </a:r>
          <a:r>
            <a:rPr lang="tr-TR" sz="1900" b="0" i="0" kern="1200" baseline="0"/>
            <a:t> of the data.</a:t>
          </a:r>
          <a:endParaRPr lang="en-US" sz="1900" kern="1200"/>
        </a:p>
      </dsp:txBody>
      <dsp:txXfrm>
        <a:off x="1059754" y="2298147"/>
        <a:ext cx="5304469" cy="917536"/>
      </dsp:txXfrm>
    </dsp:sp>
    <dsp:sp modelId="{FB64A0CF-F374-4067-83EF-4CDC158C2430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07E54-B8A5-455E-AC8A-D6E9B8921CAB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30B4C-8745-4B42-97B4-903A85150887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i="0" kern="1200" baseline="0"/>
            <a:t>Pre-processing:</a:t>
          </a:r>
          <a:r>
            <a:rPr lang="tr-TR" sz="1900" b="0" i="0" kern="1200" baseline="0"/>
            <a:t> Time &amp; Amount standardized; PCA features already scaled.</a:t>
          </a:r>
          <a:endParaRPr lang="en-US" sz="1900" kern="1200"/>
        </a:p>
      </dsp:txBody>
      <dsp:txXfrm>
        <a:off x="1059754" y="3445068"/>
        <a:ext cx="5304469" cy="917536"/>
      </dsp:txXfrm>
    </dsp:sp>
    <dsp:sp modelId="{846AE5C4-0C4D-48A9-A5EB-9ACC4381CDD4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6AF8A0-E9BD-41C7-8992-FFCA99020D03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C484B-60F2-47C2-AE73-9D13DA211F46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i="0" kern="1200" baseline="0"/>
            <a:t>Train / Test Split:</a:t>
          </a:r>
          <a:r>
            <a:rPr lang="tr-TR" sz="1900" b="0" i="0" kern="1200" baseline="0"/>
            <a:t> 80 % train, 20 % test, stratified by label.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209EC-7FC3-4AB8-8184-8B769878432C}">
      <dsp:nvSpPr>
        <dsp:cNvPr id="0" name=""/>
        <dsp:cNvSpPr/>
      </dsp:nvSpPr>
      <dsp:spPr>
        <a:xfrm>
          <a:off x="0" y="439"/>
          <a:ext cx="465120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63EE5F-26AC-490B-9196-4C8AF34ED476}">
      <dsp:nvSpPr>
        <dsp:cNvPr id="0" name=""/>
        <dsp:cNvSpPr/>
      </dsp:nvSpPr>
      <dsp:spPr>
        <a:xfrm>
          <a:off x="0" y="439"/>
          <a:ext cx="4651205" cy="720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0" i="0" kern="1200" baseline="0"/>
            <a:t>X-axis = PC 1  Y-axis = PC 2</a:t>
          </a:r>
          <a:endParaRPr lang="en-US" sz="2000" kern="1200"/>
        </a:p>
      </dsp:txBody>
      <dsp:txXfrm>
        <a:off x="0" y="439"/>
        <a:ext cx="4651205" cy="720411"/>
      </dsp:txXfrm>
    </dsp:sp>
    <dsp:sp modelId="{EAABD343-C246-46FA-B7D6-C3D54A9A526B}">
      <dsp:nvSpPr>
        <dsp:cNvPr id="0" name=""/>
        <dsp:cNvSpPr/>
      </dsp:nvSpPr>
      <dsp:spPr>
        <a:xfrm>
          <a:off x="0" y="720850"/>
          <a:ext cx="4651205" cy="0"/>
        </a:xfrm>
        <a:prstGeom prst="line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866EEA-3E12-46D5-9F19-ED01832C823A}">
      <dsp:nvSpPr>
        <dsp:cNvPr id="0" name=""/>
        <dsp:cNvSpPr/>
      </dsp:nvSpPr>
      <dsp:spPr>
        <a:xfrm>
          <a:off x="0" y="720850"/>
          <a:ext cx="4651205" cy="720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1" i="0" kern="1200" baseline="0"/>
            <a:t>Red (1)</a:t>
          </a:r>
          <a:r>
            <a:rPr lang="tr-TR" sz="2000" b="0" i="0" kern="1200" baseline="0"/>
            <a:t> = transactions the model flagged as fraud</a:t>
          </a:r>
          <a:endParaRPr lang="en-US" sz="2000" kern="1200"/>
        </a:p>
      </dsp:txBody>
      <dsp:txXfrm>
        <a:off x="0" y="720850"/>
        <a:ext cx="4651205" cy="720411"/>
      </dsp:txXfrm>
    </dsp:sp>
    <dsp:sp modelId="{38B09B44-EF0F-44E4-BCFF-EAD1D5600FFB}">
      <dsp:nvSpPr>
        <dsp:cNvPr id="0" name=""/>
        <dsp:cNvSpPr/>
      </dsp:nvSpPr>
      <dsp:spPr>
        <a:xfrm>
          <a:off x="0" y="1441261"/>
          <a:ext cx="4651205" cy="0"/>
        </a:xfrm>
        <a:prstGeom prst="line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775FCC-0D09-41A2-BC22-9A3E3D88A372}">
      <dsp:nvSpPr>
        <dsp:cNvPr id="0" name=""/>
        <dsp:cNvSpPr/>
      </dsp:nvSpPr>
      <dsp:spPr>
        <a:xfrm>
          <a:off x="0" y="1441261"/>
          <a:ext cx="4651205" cy="720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1" i="0" kern="1200" baseline="0"/>
            <a:t>Blue (0)</a:t>
          </a:r>
          <a:r>
            <a:rPr lang="tr-TR" sz="2000" b="0" i="0" kern="1200" baseline="0"/>
            <a:t> = transactions the model left as legit</a:t>
          </a:r>
          <a:endParaRPr lang="en-US" sz="2000" kern="1200"/>
        </a:p>
      </dsp:txBody>
      <dsp:txXfrm>
        <a:off x="0" y="1441261"/>
        <a:ext cx="4651205" cy="720411"/>
      </dsp:txXfrm>
    </dsp:sp>
    <dsp:sp modelId="{35A7C2FC-6952-40C6-8783-7CDEB6EFD0C7}">
      <dsp:nvSpPr>
        <dsp:cNvPr id="0" name=""/>
        <dsp:cNvSpPr/>
      </dsp:nvSpPr>
      <dsp:spPr>
        <a:xfrm>
          <a:off x="0" y="2161673"/>
          <a:ext cx="4651205" cy="0"/>
        </a:xfrm>
        <a:prstGeom prst="line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855B34C-9B99-4871-860A-4CCE699E5E2E}">
      <dsp:nvSpPr>
        <dsp:cNvPr id="0" name=""/>
        <dsp:cNvSpPr/>
      </dsp:nvSpPr>
      <dsp:spPr>
        <a:xfrm>
          <a:off x="0" y="2161673"/>
          <a:ext cx="4651205" cy="720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0" i="0" kern="1200" baseline="0"/>
            <a:t>Caption: “2-D PCA projection · cont 0.003 · threshold 99.3 %”</a:t>
          </a:r>
          <a:endParaRPr lang="en-US" sz="2000" kern="1200"/>
        </a:p>
      </dsp:txBody>
      <dsp:txXfrm>
        <a:off x="0" y="2161673"/>
        <a:ext cx="4651205" cy="720411"/>
      </dsp:txXfrm>
    </dsp:sp>
    <dsp:sp modelId="{5700C848-5E47-44C0-B0AE-A1B9EDE41311}">
      <dsp:nvSpPr>
        <dsp:cNvPr id="0" name=""/>
        <dsp:cNvSpPr/>
      </dsp:nvSpPr>
      <dsp:spPr>
        <a:xfrm>
          <a:off x="0" y="2882084"/>
          <a:ext cx="4651205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B64CCF-99DE-4027-BD02-8D6262751F03}">
      <dsp:nvSpPr>
        <dsp:cNvPr id="0" name=""/>
        <dsp:cNvSpPr/>
      </dsp:nvSpPr>
      <dsp:spPr>
        <a:xfrm>
          <a:off x="0" y="2882084"/>
          <a:ext cx="4651205" cy="720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“Flagged points cluster at the sparse edges of the data cloud.”</a:t>
          </a:r>
        </a:p>
      </dsp:txBody>
      <dsp:txXfrm>
        <a:off x="0" y="2882084"/>
        <a:ext cx="4651205" cy="7204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3AA133-4CEF-4EE7-93B7-5DE6E6A82576}">
      <dsp:nvSpPr>
        <dsp:cNvPr id="0" name=""/>
        <dsp:cNvSpPr/>
      </dsp:nvSpPr>
      <dsp:spPr>
        <a:xfrm>
          <a:off x="0" y="452"/>
          <a:ext cx="6798539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0F4219C-7337-4170-857C-F70FB0299F61}">
      <dsp:nvSpPr>
        <dsp:cNvPr id="0" name=""/>
        <dsp:cNvSpPr/>
      </dsp:nvSpPr>
      <dsp:spPr>
        <a:xfrm>
          <a:off x="0" y="452"/>
          <a:ext cx="6798539" cy="740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1" i="0" kern="1200" baseline="0"/>
            <a:t>Unsupervised wins:</a:t>
          </a:r>
          <a:r>
            <a:rPr lang="tr-TR" sz="2000" b="0" i="0" kern="1200" baseline="0"/>
            <a:t> </a:t>
          </a:r>
          <a:r>
            <a:rPr lang="tr-TR" sz="2000" b="0" i="1" kern="1200" baseline="0"/>
            <a:t>No labels, still 51 % fraud recall</a:t>
          </a:r>
          <a:endParaRPr lang="en-US" sz="2000" kern="1200"/>
        </a:p>
      </dsp:txBody>
      <dsp:txXfrm>
        <a:off x="0" y="452"/>
        <a:ext cx="6798539" cy="740862"/>
      </dsp:txXfrm>
    </dsp:sp>
    <dsp:sp modelId="{7D23417A-30C2-429E-84B6-03C9C713729D}">
      <dsp:nvSpPr>
        <dsp:cNvPr id="0" name=""/>
        <dsp:cNvSpPr/>
      </dsp:nvSpPr>
      <dsp:spPr>
        <a:xfrm>
          <a:off x="0" y="741314"/>
          <a:ext cx="6798539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F39258F-6128-4413-87A2-5697B028A1E2}">
      <dsp:nvSpPr>
        <dsp:cNvPr id="0" name=""/>
        <dsp:cNvSpPr/>
      </dsp:nvSpPr>
      <dsp:spPr>
        <a:xfrm>
          <a:off x="0" y="741314"/>
          <a:ext cx="6798539" cy="740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1" i="0" kern="1200" baseline="0"/>
            <a:t>Operational fit:</a:t>
          </a:r>
          <a:r>
            <a:rPr lang="tr-TR" sz="2000" b="0" i="0" kern="1200" baseline="0"/>
            <a:t> </a:t>
          </a:r>
          <a:r>
            <a:rPr lang="tr-TR" sz="2000" b="0" i="1" kern="1200" baseline="0"/>
            <a:t>≈ 8 alerts → 1 real fraud (12 % precision)</a:t>
          </a:r>
          <a:endParaRPr lang="en-US" sz="2000" kern="1200"/>
        </a:p>
      </dsp:txBody>
      <dsp:txXfrm>
        <a:off x="0" y="741314"/>
        <a:ext cx="6798539" cy="740862"/>
      </dsp:txXfrm>
    </dsp:sp>
    <dsp:sp modelId="{295AA1FC-BDDA-482F-8ECD-BA3C25ACA460}">
      <dsp:nvSpPr>
        <dsp:cNvPr id="0" name=""/>
        <dsp:cNvSpPr/>
      </dsp:nvSpPr>
      <dsp:spPr>
        <a:xfrm>
          <a:off x="0" y="1482177"/>
          <a:ext cx="6798539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32B2B30-3F92-44C7-A0F5-95AD3151979A}">
      <dsp:nvSpPr>
        <dsp:cNvPr id="0" name=""/>
        <dsp:cNvSpPr/>
      </dsp:nvSpPr>
      <dsp:spPr>
        <a:xfrm>
          <a:off x="0" y="1482177"/>
          <a:ext cx="6798539" cy="740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1" i="0" kern="1200" baseline="0"/>
            <a:t>Lightweight:</a:t>
          </a:r>
          <a:r>
            <a:rPr lang="tr-TR" sz="2000" b="0" i="0" kern="1200" baseline="0"/>
            <a:t> </a:t>
          </a:r>
          <a:r>
            <a:rPr lang="tr-TR" sz="2000" b="0" i="1" kern="1200" baseline="0"/>
            <a:t>300 trees · 10 s training · near-real-time scoring</a:t>
          </a:r>
          <a:endParaRPr lang="en-US" sz="2000" kern="1200"/>
        </a:p>
      </dsp:txBody>
      <dsp:txXfrm>
        <a:off x="0" y="1482177"/>
        <a:ext cx="6798539" cy="740862"/>
      </dsp:txXfrm>
    </dsp:sp>
    <dsp:sp modelId="{18478709-D781-4D22-BD58-F409627BB7BA}">
      <dsp:nvSpPr>
        <dsp:cNvPr id="0" name=""/>
        <dsp:cNvSpPr/>
      </dsp:nvSpPr>
      <dsp:spPr>
        <a:xfrm>
          <a:off x="0" y="2223039"/>
          <a:ext cx="6798539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0A7697C-6C4B-4263-B4E1-43FDDF72A4AE}">
      <dsp:nvSpPr>
        <dsp:cNvPr id="0" name=""/>
        <dsp:cNvSpPr/>
      </dsp:nvSpPr>
      <dsp:spPr>
        <a:xfrm>
          <a:off x="0" y="2223039"/>
          <a:ext cx="6798539" cy="740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1" i="0" kern="1200" baseline="0"/>
            <a:t>Simple tuning knob:</a:t>
          </a:r>
          <a:r>
            <a:rPr lang="tr-TR" sz="2000" b="0" i="0" kern="1200" baseline="0"/>
            <a:t> </a:t>
          </a:r>
          <a:r>
            <a:rPr lang="tr-TR" sz="2000" b="0" i="1" kern="1200" baseline="0"/>
            <a:t>Threshold can move with risk appetite</a:t>
          </a:r>
          <a:endParaRPr lang="en-US" sz="2000" kern="1200"/>
        </a:p>
      </dsp:txBody>
      <dsp:txXfrm>
        <a:off x="0" y="2223039"/>
        <a:ext cx="6798539" cy="740862"/>
      </dsp:txXfrm>
    </dsp:sp>
    <dsp:sp modelId="{6859A7A9-A1CC-42CF-B474-497221588460}">
      <dsp:nvSpPr>
        <dsp:cNvPr id="0" name=""/>
        <dsp:cNvSpPr/>
      </dsp:nvSpPr>
      <dsp:spPr>
        <a:xfrm>
          <a:off x="0" y="2963902"/>
          <a:ext cx="6798539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7AD29F7-524A-4154-8F3F-C3CD4A930240}">
      <dsp:nvSpPr>
        <dsp:cNvPr id="0" name=""/>
        <dsp:cNvSpPr/>
      </dsp:nvSpPr>
      <dsp:spPr>
        <a:xfrm>
          <a:off x="0" y="2963902"/>
          <a:ext cx="6798539" cy="740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1" i="0" kern="1200" baseline="0"/>
            <a:t>Bottom-line:</a:t>
          </a:r>
          <a:r>
            <a:rPr lang="tr-TR" sz="2000" b="0" i="0" kern="1200" baseline="0"/>
            <a:t> </a:t>
          </a:r>
          <a:r>
            <a:rPr lang="tr-TR" sz="2000" b="0" i="1" kern="1200" baseline="0"/>
            <a:t>Isolation Forest reduces undiscovered fraud by ~50 % with an alert load analysts can handle.</a:t>
          </a:r>
          <a:endParaRPr lang="en-US" sz="2000" kern="1200"/>
        </a:p>
      </dsp:txBody>
      <dsp:txXfrm>
        <a:off x="0" y="2963902"/>
        <a:ext cx="6798539" cy="740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25D0-3A94-4D37-0258-B3B9A3632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63B70-4C41-C9A8-8610-0F6F1BB00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1B7A0-6C3F-F053-9EB0-36950A3F2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04-A335-4B0B-8D8C-40685260DD80}" type="datetimeFigureOut">
              <a:rPr lang="tr-TR" smtClean="0"/>
              <a:t>18.05.2025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5622E-0E83-F05C-823B-8A756B5A4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28185-3125-F5D1-A092-05C27D824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2192-0DFF-4C1F-8B19-1ACBB84F583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8636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9084B-7E90-352A-7B07-08A65B4AB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8B719-5A86-E788-5859-8776E400C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4B356-2F70-FDE4-82B3-18FD6186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04-A335-4B0B-8D8C-40685260DD80}" type="datetimeFigureOut">
              <a:rPr lang="tr-TR" smtClean="0"/>
              <a:t>18.05.2025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8E37B-48C7-EB7D-B985-1565982B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D77F1-8C4C-3749-E77A-91E50BE6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2192-0DFF-4C1F-8B19-1ACBB84F583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387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11949-EFDF-C53C-F288-66836B32A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B30CC-F437-61B3-4636-139AEFA7B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02C1F-A32E-9155-9EC8-F5A3F9F80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04-A335-4B0B-8D8C-40685260DD80}" type="datetimeFigureOut">
              <a:rPr lang="tr-TR" smtClean="0"/>
              <a:t>18.05.2025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E893-7B2F-21DF-F902-DDF7660B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5F56A-C3C5-896C-FB6F-72928182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2192-0DFF-4C1F-8B19-1ACBB84F583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716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2406-2BD7-10CC-EF17-D1B00D6D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3871A-085E-A5EE-CCA5-8633BB852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DD952-5EA4-B937-0E32-A7539DF53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94648-FF1A-68B4-B44D-735548885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04-A335-4B0B-8D8C-40685260DD80}" type="datetimeFigureOut">
              <a:rPr lang="tr-TR" smtClean="0"/>
              <a:t>18.05.2025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85C5B-7C07-3EBE-1C31-FE46BA5C6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A753E-1D1C-91BD-43E2-CC8E88E17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2192-0DFF-4C1F-8B19-1ACBB84F583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8739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79FC-E11C-7C98-1DDA-9BC8A181F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A372F-0080-0793-70AC-C4EB99E70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461D4-CDCB-B5C3-703E-FD2F27E3E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E3CE8E-5C25-BCF0-CF43-E0A450692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4B18B7-BF64-6ACB-BCF9-AF13240075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5F4AF9-506B-B2F0-9B40-B1B87735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04-A335-4B0B-8D8C-40685260DD80}" type="datetimeFigureOut">
              <a:rPr lang="tr-TR" smtClean="0"/>
              <a:t>18.05.2025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526964-65AE-FF98-CF7C-D30F4E637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1A13-EC87-77D8-5C77-D3A81E58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2192-0DFF-4C1F-8B19-1ACBB84F583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957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FC9F4-3D34-3D9B-2CAC-6CC8346E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AE0F0-D61B-EEE5-773A-DD1C46419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04-A335-4B0B-8D8C-40685260DD80}" type="datetimeFigureOut">
              <a:rPr lang="tr-TR" smtClean="0"/>
              <a:t>18.05.2025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2E30F-2EEA-059F-A2FD-CD1DDB19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6D83E-66B4-127C-9EAC-9BB1E392D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2192-0DFF-4C1F-8B19-1ACBB84F583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1071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B7C787-C76B-C642-B6EF-A89EA7D0C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04-A335-4B0B-8D8C-40685260DD80}" type="datetimeFigureOut">
              <a:rPr lang="tr-TR" smtClean="0"/>
              <a:t>18.05.2025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1F252-3B22-9E3D-22E5-29B85660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F61E0-1B8D-C09A-F9F7-A83D9ADB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2192-0DFF-4C1F-8B19-1ACBB84F583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9644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8F60-D474-BBE6-F119-1CE19E996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37A9C-4DB8-483B-FE4A-06703B341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3E59B-E6C6-3DB1-15C3-74BB012B5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9E207-2B68-39ED-1828-9FCB85819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04-A335-4B0B-8D8C-40685260DD80}" type="datetimeFigureOut">
              <a:rPr lang="tr-TR" smtClean="0"/>
              <a:t>18.05.2025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25E04-310D-4EFE-BE7B-FEE5B9AA7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0C5E1-0969-0EE8-2049-8E6F0505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2192-0DFF-4C1F-8B19-1ACBB84F583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66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89DB-6B7F-3AA4-0226-08E156661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42AD3-42F3-5339-73EC-5B6D971F6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9709D-42A6-2F03-A73A-C65FC1218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97BEE-D684-D1D0-3888-1C33534A5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04-A335-4B0B-8D8C-40685260DD80}" type="datetimeFigureOut">
              <a:rPr lang="tr-TR" smtClean="0"/>
              <a:t>18.05.2025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9EB11-0E25-100E-1A88-CF336F07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EC79F-7E3A-2942-85FC-135D3CCB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2192-0DFF-4C1F-8B19-1ACBB84F583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3025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9976-EB00-79D1-0400-FF9B1BD1B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1998D-A7C8-2682-F7D7-3C8884C04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0B849-06C8-E585-964B-1267893A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04-A335-4B0B-8D8C-40685260DD80}" type="datetimeFigureOut">
              <a:rPr lang="tr-TR" smtClean="0"/>
              <a:t>18.05.2025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36A1F-9EDE-FFD4-E1CB-A6A2F8BCB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FE55E-91AC-DC9E-4977-6A8DDECB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2192-0DFF-4C1F-8B19-1ACBB84F583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916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B80D3-C949-8B10-0F87-8F9B9BD21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EB304-6845-6E85-89AA-6860F0B15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ABA5A-B393-028F-81F4-C949063F5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04-A335-4B0B-8D8C-40685260DD80}" type="datetimeFigureOut">
              <a:rPr lang="tr-TR" smtClean="0"/>
              <a:t>18.05.2025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A0BF3-6C50-9230-F12D-DFDAD0CE4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DC70A-226F-3E8C-3C61-304178A1C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2192-0DFF-4C1F-8B19-1ACBB84F583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393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FA3BE6-1001-A96B-40C8-9A536062A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3D4FF-DF66-EE3B-3F4B-61F0E5C90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8B97A-EA36-E9F8-2C4D-783776A9D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42404-A335-4B0B-8D8C-40685260DD80}" type="datetimeFigureOut">
              <a:rPr lang="tr-TR" smtClean="0"/>
              <a:t>18.05.2025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955E6-2655-34C2-ACD9-395FF6662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B321-511C-D0C3-FAC5-A766199D4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42192-0DFF-4C1F-8B19-1ACBB84F583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7880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robot thinking with a sound wave coming out of his head">
            <a:extLst>
              <a:ext uri="{FF2B5EF4-FFF2-40B4-BE49-F238E27FC236}">
                <a16:creationId xmlns:a16="http://schemas.microsoft.com/office/drawing/2014/main" id="{ACEB01E2-1292-3CDC-17B3-1DBACBB27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FA89B1-34BA-193F-1482-50F028D4A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“Credit-Card Fraud Detection with Isolation Forest”</a:t>
            </a:r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8AD3B-2DA2-9F91-C613-C7D114D5B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</a:rPr>
              <a:t>ARTIFICIAL INTELLIGIENT</a:t>
            </a:r>
          </a:p>
          <a:p>
            <a:r>
              <a:rPr lang="tr-TR">
                <a:solidFill>
                  <a:srgbClr val="FFFFFF"/>
                </a:solidFill>
              </a:rPr>
              <a:t>ÖMER FARUK GÜNEŞ</a:t>
            </a:r>
          </a:p>
        </p:txBody>
      </p:sp>
    </p:spTree>
    <p:extLst>
      <p:ext uri="{BB962C8B-B14F-4D97-AF65-F5344CB8AC3E}">
        <p14:creationId xmlns:p14="http://schemas.microsoft.com/office/powerpoint/2010/main" val="631308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3005C9-FD1A-5ABC-FB69-2D88C68E0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tr-TR" sz="4000">
                <a:solidFill>
                  <a:srgbClr val="FFFFFF"/>
                </a:solidFill>
              </a:rPr>
              <a:t>WHAT IS THE PROBLEM?</a:t>
            </a:r>
          </a:p>
        </p:txBody>
      </p:sp>
      <p:graphicFrame>
        <p:nvGraphicFramePr>
          <p:cNvPr id="28" name="Rectangle 1">
            <a:extLst>
              <a:ext uri="{FF2B5EF4-FFF2-40B4-BE49-F238E27FC236}">
                <a16:creationId xmlns:a16="http://schemas.microsoft.com/office/drawing/2014/main" id="{2C8F3170-D081-CA61-5393-FF50AC60C4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0365199"/>
              </p:ext>
            </p:extLst>
          </p:nvPr>
        </p:nvGraphicFramePr>
        <p:xfrm>
          <a:off x="4395020" y="294967"/>
          <a:ext cx="7590504" cy="6371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4584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1E2EC-9910-9220-E2D5-A0E6637E4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dirty="0"/>
              <a:t>“Dataset: Credit-Card Transactions (Kaggle 2013)”</a:t>
            </a:r>
            <a:endParaRPr lang="tr-TR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3CA7550-67D2-9773-CA81-88F5A72CB4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987010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149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A161EC-94AD-5C63-078A-8037AB7E4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400">
                <a:solidFill>
                  <a:srgbClr val="FFFFFF"/>
                </a:solidFill>
              </a:rPr>
              <a:t>Challenge: Extreme Class Imbalance &amp; “Accuracy Trap”</a:t>
            </a:r>
            <a:endParaRPr lang="tr-TR" sz="34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C6CA50-312C-354B-04AA-4195809BF1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8802912"/>
              </p:ext>
            </p:extLst>
          </p:nvPr>
        </p:nvGraphicFramePr>
        <p:xfrm>
          <a:off x="4905052" y="1131910"/>
          <a:ext cx="6666833" cy="4690983"/>
        </p:xfrm>
        <a:graphic>
          <a:graphicData uri="http://schemas.openxmlformats.org/drawingml/2006/table">
            <a:tbl>
              <a:tblPr/>
              <a:tblGrid>
                <a:gridCol w="6666833">
                  <a:extLst>
                    <a:ext uri="{9D8B030D-6E8A-4147-A177-3AD203B41FA5}">
                      <a16:colId xmlns:a16="http://schemas.microsoft.com/office/drawing/2014/main" val="1621726156"/>
                    </a:ext>
                  </a:extLst>
                </a:gridCol>
              </a:tblGrid>
              <a:tr h="677888">
                <a:tc>
                  <a:txBody>
                    <a:bodyPr/>
                    <a:lstStyle/>
                    <a:p>
                      <a:endParaRPr lang="tr-TR" sz="2700" dirty="0"/>
                    </a:p>
                  </a:txBody>
                  <a:tcPr marL="135577" marR="135577" marT="67789" marB="67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059273"/>
                  </a:ext>
                </a:extLst>
              </a:tr>
              <a:tr h="596541">
                <a:tc>
                  <a:txBody>
                    <a:bodyPr/>
                    <a:lstStyle/>
                    <a:p>
                      <a:r>
                        <a:rPr lang="tr-TR" sz="2700" b="1"/>
                        <a:t>• Majority class = 99.83 % legit.</a:t>
                      </a:r>
                      <a:endParaRPr lang="tr-TR" sz="2700"/>
                    </a:p>
                  </a:txBody>
                  <a:tcPr marL="135577" marR="135577" marT="67789" marB="67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855236"/>
                  </a:ext>
                </a:extLst>
              </a:tr>
              <a:tr h="1003274">
                <a:tc>
                  <a:txBody>
                    <a:bodyPr/>
                    <a:lstStyle/>
                    <a:p>
                      <a:r>
                        <a:rPr lang="en-US" sz="2700" b="1"/>
                        <a:t>• Accuracy is useless here → focus on Recall &amp; Precision.</a:t>
                      </a:r>
                      <a:endParaRPr lang="en-US" sz="2700"/>
                    </a:p>
                  </a:txBody>
                  <a:tcPr marL="135577" marR="135577" marT="67789" marB="67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754338"/>
                  </a:ext>
                </a:extLst>
              </a:tr>
              <a:tr h="1410006">
                <a:tc>
                  <a:txBody>
                    <a:bodyPr/>
                    <a:lstStyle/>
                    <a:p>
                      <a:r>
                        <a:rPr lang="en-US" sz="2700" b="1"/>
                        <a:t>• Key metrics for fraud class (1)</a:t>
                      </a:r>
                      <a:r>
                        <a:rPr lang="en-US" sz="2700"/>
                        <a:t>  ‣ </a:t>
                      </a:r>
                      <a:r>
                        <a:rPr lang="en-US" sz="2700" b="1"/>
                        <a:t>Recall (TP / TP+FN)</a:t>
                      </a:r>
                      <a:r>
                        <a:rPr lang="en-US" sz="2700"/>
                        <a:t>  ‣ </a:t>
                      </a:r>
                      <a:r>
                        <a:rPr lang="en-US" sz="2700" b="1"/>
                        <a:t>Precision (TP / TP+FP)</a:t>
                      </a:r>
                      <a:r>
                        <a:rPr lang="en-US" sz="2700"/>
                        <a:t>  ‣ </a:t>
                      </a:r>
                      <a:r>
                        <a:rPr lang="en-US" sz="2700" b="1"/>
                        <a:t>F1 = harmonic mean</a:t>
                      </a:r>
                      <a:endParaRPr lang="en-US" sz="2700"/>
                    </a:p>
                  </a:txBody>
                  <a:tcPr marL="135577" marR="135577" marT="67789" marB="67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974527"/>
                  </a:ext>
                </a:extLst>
              </a:tr>
              <a:tr h="1003274">
                <a:tc>
                  <a:txBody>
                    <a:bodyPr/>
                    <a:lstStyle/>
                    <a:p>
                      <a:r>
                        <a:rPr lang="en-US" sz="2700" b="1"/>
                        <a:t>• Goal chosen:</a:t>
                      </a:r>
                      <a:r>
                        <a:rPr lang="en-US" sz="2700"/>
                        <a:t> </a:t>
                      </a:r>
                      <a:r>
                        <a:rPr lang="en-US" sz="2700" b="1"/>
                        <a:t>Recall ≥ 50 %</a:t>
                      </a:r>
                      <a:r>
                        <a:rPr lang="en-US" sz="2700"/>
                        <a:t> with </a:t>
                      </a:r>
                      <a:r>
                        <a:rPr lang="en-US" sz="2700" b="1"/>
                        <a:t>Precision ≈ 12 %</a:t>
                      </a:r>
                      <a:r>
                        <a:rPr lang="en-US" sz="2700"/>
                        <a:t> (after tuning).</a:t>
                      </a:r>
                    </a:p>
                  </a:txBody>
                  <a:tcPr marL="135577" marR="135577" marT="67789" marB="677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300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375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D97D0-F005-17BD-E7E5-997B5FBC1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Method Selection: Why Isolation Forest?</a:t>
            </a:r>
            <a:endParaRPr lang="tr-TR" sz="4000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DC9D06-5664-AA53-6264-5A2C9E724B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6090158"/>
              </p:ext>
            </p:extLst>
          </p:nvPr>
        </p:nvGraphicFramePr>
        <p:xfrm>
          <a:off x="4905052" y="782748"/>
          <a:ext cx="6666833" cy="5389307"/>
        </p:xfrm>
        <a:graphic>
          <a:graphicData uri="http://schemas.openxmlformats.org/drawingml/2006/table">
            <a:tbl>
              <a:tblPr/>
              <a:tblGrid>
                <a:gridCol w="6666833">
                  <a:extLst>
                    <a:ext uri="{9D8B030D-6E8A-4147-A177-3AD203B41FA5}">
                      <a16:colId xmlns:a16="http://schemas.microsoft.com/office/drawing/2014/main" val="4209597959"/>
                    </a:ext>
                  </a:extLst>
                </a:gridCol>
              </a:tblGrid>
              <a:tr h="522191">
                <a:tc>
                  <a:txBody>
                    <a:bodyPr/>
                    <a:lstStyle/>
                    <a:p>
                      <a:r>
                        <a:rPr lang="tr-TR" sz="2300" b="1"/>
                        <a:t>Visible bullets (on slide)</a:t>
                      </a:r>
                      <a:endParaRPr lang="tr-TR" sz="2300"/>
                    </a:p>
                  </a:txBody>
                  <a:tcPr marL="115944" marR="115944" marT="57973" marB="5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519828"/>
                  </a:ext>
                </a:extLst>
              </a:tr>
              <a:tr h="868985">
                <a:tc>
                  <a:txBody>
                    <a:bodyPr/>
                    <a:lstStyle/>
                    <a:p>
                      <a:r>
                        <a:rPr lang="en-US" sz="2300" b="1"/>
                        <a:t>• Unsupervised anomaly detector</a:t>
                      </a:r>
                      <a:r>
                        <a:rPr lang="en-US" sz="2300"/>
                        <a:t> – learns the “normal” pattern, no labels needed</a:t>
                      </a:r>
                    </a:p>
                  </a:txBody>
                  <a:tcPr marL="115944" marR="115944" marT="57973" marB="5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963845"/>
                  </a:ext>
                </a:extLst>
              </a:tr>
              <a:tr h="522191">
                <a:tc>
                  <a:txBody>
                    <a:bodyPr/>
                    <a:lstStyle/>
                    <a:p>
                      <a:r>
                        <a:rPr lang="en-US" sz="2300" b="1"/>
                        <a:t>• Works well with extreme imbalance</a:t>
                      </a:r>
                      <a:endParaRPr lang="en-US" sz="2300"/>
                    </a:p>
                  </a:txBody>
                  <a:tcPr marL="115944" marR="115944" marT="57973" marB="5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478230"/>
                  </a:ext>
                </a:extLst>
              </a:tr>
              <a:tr h="868985">
                <a:tc>
                  <a:txBody>
                    <a:bodyPr/>
                    <a:lstStyle/>
                    <a:p>
                      <a:r>
                        <a:rPr lang="en-US" sz="2300" b="1"/>
                        <a:t>• Tree-based → non-linear, no need for feature scaling</a:t>
                      </a:r>
                      <a:endParaRPr lang="en-US" sz="2300"/>
                    </a:p>
                  </a:txBody>
                  <a:tcPr marL="115944" marR="115944" marT="57973" marB="5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664984"/>
                  </a:ext>
                </a:extLst>
              </a:tr>
              <a:tr h="868985">
                <a:tc>
                  <a:txBody>
                    <a:bodyPr/>
                    <a:lstStyle/>
                    <a:p>
                      <a:r>
                        <a:rPr lang="pt-BR" sz="2300" b="1"/>
                        <a:t>• Fast: O(n log n)</a:t>
                      </a:r>
                      <a:r>
                        <a:rPr lang="pt-BR" sz="2300"/>
                        <a:t> – 300 trees, 284 k rows &lt; 10 s on laptop</a:t>
                      </a:r>
                    </a:p>
                  </a:txBody>
                  <a:tcPr marL="115944" marR="115944" marT="57973" marB="5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789738"/>
                  </a:ext>
                </a:extLst>
              </a:tr>
              <a:tr h="868985">
                <a:tc>
                  <a:txBody>
                    <a:bodyPr/>
                    <a:lstStyle/>
                    <a:p>
                      <a:r>
                        <a:rPr lang="tr-TR" sz="2300" b="1"/>
                        <a:t>• Simple knob: contamination + decision score percentile</a:t>
                      </a:r>
                      <a:endParaRPr lang="tr-TR" sz="2300"/>
                    </a:p>
                  </a:txBody>
                  <a:tcPr marL="115944" marR="115944" marT="57973" marB="5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482735"/>
                  </a:ext>
                </a:extLst>
              </a:tr>
              <a:tr h="868985">
                <a:tc>
                  <a:txBody>
                    <a:bodyPr/>
                    <a:lstStyle/>
                    <a:p>
                      <a:r>
                        <a:rPr lang="en-US" sz="2300" i="1"/>
                        <a:t>(Optional)</a:t>
                      </a:r>
                      <a:r>
                        <a:rPr lang="en-US" sz="2300"/>
                        <a:t> </a:t>
                      </a:r>
                      <a:r>
                        <a:rPr lang="en-US" sz="2300" b="1"/>
                        <a:t>• Explainable intuition</a:t>
                      </a:r>
                      <a:r>
                        <a:rPr lang="en-US" sz="2300"/>
                        <a:t> – shorter paths ⇒ anomalies</a:t>
                      </a:r>
                    </a:p>
                  </a:txBody>
                  <a:tcPr marL="115944" marR="115944" marT="57973" marB="5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58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207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D4122-FB22-7656-4BB4-F0F30A40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Tuning &amp; Hyper-parameters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171FE2-4EAD-B3AC-7F44-51E0045309EA}"/>
              </a:ext>
            </a:extLst>
          </p:cNvPr>
          <p:cNvSpPr txBox="1"/>
          <p:nvPr/>
        </p:nvSpPr>
        <p:spPr>
          <a:xfrm>
            <a:off x="5351164" y="586822"/>
            <a:ext cx="6002636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Target Balance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Recall ≥ 50% → Cuts missed fraud transactions in half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Precision ≈ 12% → 1 in 8 alerts is real; analyst load is reasonable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58C9E5-45AC-585D-5748-040FE996B0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718579"/>
              </p:ext>
            </p:extLst>
          </p:nvPr>
        </p:nvGraphicFramePr>
        <p:xfrm>
          <a:off x="557784" y="2976161"/>
          <a:ext cx="11164825" cy="299965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217261">
                  <a:extLst>
                    <a:ext uri="{9D8B030D-6E8A-4147-A177-3AD203B41FA5}">
                      <a16:colId xmlns:a16="http://schemas.microsoft.com/office/drawing/2014/main" val="502721733"/>
                    </a:ext>
                  </a:extLst>
                </a:gridCol>
                <a:gridCol w="2618493">
                  <a:extLst>
                    <a:ext uri="{9D8B030D-6E8A-4147-A177-3AD203B41FA5}">
                      <a16:colId xmlns:a16="http://schemas.microsoft.com/office/drawing/2014/main" val="82874714"/>
                    </a:ext>
                  </a:extLst>
                </a:gridCol>
                <a:gridCol w="2710578">
                  <a:extLst>
                    <a:ext uri="{9D8B030D-6E8A-4147-A177-3AD203B41FA5}">
                      <a16:colId xmlns:a16="http://schemas.microsoft.com/office/drawing/2014/main" val="2495722216"/>
                    </a:ext>
                  </a:extLst>
                </a:gridCol>
                <a:gridCol w="2618493">
                  <a:extLst>
                    <a:ext uri="{9D8B030D-6E8A-4147-A177-3AD203B41FA5}">
                      <a16:colId xmlns:a16="http://schemas.microsoft.com/office/drawing/2014/main" val="1271958241"/>
                    </a:ext>
                  </a:extLst>
                </a:gridCol>
              </a:tblGrid>
              <a:tr h="677679">
                <a:tc>
                  <a:txBody>
                    <a:bodyPr/>
                    <a:lstStyle/>
                    <a:p>
                      <a:r>
                        <a:rPr lang="tr-TR" sz="3200"/>
                        <a:t>Contamination</a:t>
                      </a:r>
                    </a:p>
                  </a:txBody>
                  <a:tcPr marL="159218" marR="159218" marT="79609" marB="79609" anchor="ctr"/>
                </a:tc>
                <a:tc>
                  <a:txBody>
                    <a:bodyPr/>
                    <a:lstStyle/>
                    <a:p>
                      <a:r>
                        <a:rPr lang="tr-TR" sz="3200"/>
                        <a:t>99.0 %</a:t>
                      </a:r>
                    </a:p>
                  </a:txBody>
                  <a:tcPr marL="159218" marR="159218" marT="79609" marB="79609" anchor="ctr"/>
                </a:tc>
                <a:tc>
                  <a:txBody>
                    <a:bodyPr/>
                    <a:lstStyle/>
                    <a:p>
                      <a:r>
                        <a:rPr lang="tr-TR" sz="3200"/>
                        <a:t>99.3 %</a:t>
                      </a:r>
                    </a:p>
                  </a:txBody>
                  <a:tcPr marL="159218" marR="159218" marT="79609" marB="79609" anchor="ctr"/>
                </a:tc>
                <a:tc>
                  <a:txBody>
                    <a:bodyPr/>
                    <a:lstStyle/>
                    <a:p>
                      <a:r>
                        <a:rPr lang="tr-TR" sz="3200"/>
                        <a:t>99.5 %</a:t>
                      </a:r>
                    </a:p>
                  </a:txBody>
                  <a:tcPr marL="159218" marR="159218" marT="79609" marB="79609" anchor="ctr"/>
                </a:tc>
                <a:extLst>
                  <a:ext uri="{0D108BD9-81ED-4DB2-BD59-A6C34878D82A}">
                    <a16:rowId xmlns:a16="http://schemas.microsoft.com/office/drawing/2014/main" val="710990289"/>
                  </a:ext>
                </a:extLst>
              </a:tr>
              <a:tr h="1160989">
                <a:tc>
                  <a:txBody>
                    <a:bodyPr/>
                    <a:lstStyle/>
                    <a:p>
                      <a:r>
                        <a:rPr lang="tr-TR" sz="3200" b="1"/>
                        <a:t>0.003</a:t>
                      </a:r>
                      <a:endParaRPr lang="tr-TR" sz="3200"/>
                    </a:p>
                  </a:txBody>
                  <a:tcPr marL="159218" marR="159218" marT="79609" marB="79609" anchor="ctr"/>
                </a:tc>
                <a:tc>
                  <a:txBody>
                    <a:bodyPr/>
                    <a:lstStyle/>
                    <a:p>
                      <a:r>
                        <a:rPr lang="tr-TR" sz="3200"/>
                        <a:t>Recall 0.58 / Prec 0.10</a:t>
                      </a:r>
                    </a:p>
                  </a:txBody>
                  <a:tcPr marL="159218" marR="159218" marT="79609" marB="79609" anchor="ctr"/>
                </a:tc>
                <a:tc>
                  <a:txBody>
                    <a:bodyPr/>
                    <a:lstStyle/>
                    <a:p>
                      <a:r>
                        <a:rPr lang="tr-TR" sz="3200" b="1"/>
                        <a:t>Recall 0.51 / Prec 0.13</a:t>
                      </a:r>
                      <a:endParaRPr lang="tr-TR" sz="3200"/>
                    </a:p>
                  </a:txBody>
                  <a:tcPr marL="159218" marR="159218" marT="79609" marB="79609" anchor="ctr"/>
                </a:tc>
                <a:tc>
                  <a:txBody>
                    <a:bodyPr/>
                    <a:lstStyle/>
                    <a:p>
                      <a:r>
                        <a:rPr lang="tr-TR" sz="3200"/>
                        <a:t>Recall 0.43 / Prec 0.15</a:t>
                      </a:r>
                    </a:p>
                  </a:txBody>
                  <a:tcPr marL="159218" marR="159218" marT="79609" marB="79609" anchor="ctr"/>
                </a:tc>
                <a:extLst>
                  <a:ext uri="{0D108BD9-81ED-4DB2-BD59-A6C34878D82A}">
                    <a16:rowId xmlns:a16="http://schemas.microsoft.com/office/drawing/2014/main" val="2744728894"/>
                  </a:ext>
                </a:extLst>
              </a:tr>
              <a:tr h="1160989">
                <a:tc>
                  <a:txBody>
                    <a:bodyPr/>
                    <a:lstStyle/>
                    <a:p>
                      <a:r>
                        <a:rPr lang="tr-TR" sz="3200"/>
                        <a:t>0.005</a:t>
                      </a:r>
                    </a:p>
                  </a:txBody>
                  <a:tcPr marL="159218" marR="159218" marT="79609" marB="79609" anchor="ctr"/>
                </a:tc>
                <a:tc>
                  <a:txBody>
                    <a:bodyPr/>
                    <a:lstStyle/>
                    <a:p>
                      <a:r>
                        <a:rPr lang="tr-TR" sz="3200"/>
                        <a:t>similar pattern</a:t>
                      </a:r>
                    </a:p>
                  </a:txBody>
                  <a:tcPr marL="159218" marR="159218" marT="79609" marB="79609" anchor="ctr"/>
                </a:tc>
                <a:tc>
                  <a:txBody>
                    <a:bodyPr/>
                    <a:lstStyle/>
                    <a:p>
                      <a:endParaRPr lang="tr-TR" sz="3200"/>
                    </a:p>
                  </a:txBody>
                  <a:tcPr marL="159218" marR="159218" marT="79609" marB="79609" anchor="ctr"/>
                </a:tc>
                <a:tc>
                  <a:txBody>
                    <a:bodyPr/>
                    <a:lstStyle/>
                    <a:p>
                      <a:endParaRPr lang="tr-TR" sz="3200"/>
                    </a:p>
                  </a:txBody>
                  <a:tcPr marL="159218" marR="159218" marT="79609" marB="79609" anchor="ctr"/>
                </a:tc>
                <a:extLst>
                  <a:ext uri="{0D108BD9-81ED-4DB2-BD59-A6C34878D82A}">
                    <a16:rowId xmlns:a16="http://schemas.microsoft.com/office/drawing/2014/main" val="2752352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60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862D6-3D49-720B-67A8-F5E4EA468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Confusion Matrix: How the Model Performs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26FE74-B5C2-71E1-60C7-C01FFAD02EC4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Heat-map image of the 2 × 2 confusion matrix</a:t>
            </a:r>
            <a:br>
              <a:rPr lang="en-US" sz="1500" dirty="0"/>
            </a:br>
            <a:r>
              <a:rPr lang="en-US" sz="1500" i="1" dirty="0"/>
              <a:t>TN 56 515 · FP 349</a:t>
            </a:r>
            <a:br>
              <a:rPr lang="en-US" sz="1500" dirty="0"/>
            </a:br>
            <a:r>
              <a:rPr lang="en-US" sz="1500" i="1" dirty="0"/>
              <a:t>FN 48 · TP 50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i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Key numbers right next to the heat-map</a:t>
            </a:r>
            <a:br>
              <a:rPr lang="en-US" sz="1500" dirty="0"/>
            </a:br>
            <a:r>
              <a:rPr lang="en-US" sz="1500" dirty="0"/>
              <a:t>• </a:t>
            </a:r>
            <a:r>
              <a:rPr lang="en-US" sz="1500" b="1" dirty="0"/>
              <a:t>Recall = 51 %</a:t>
            </a:r>
            <a:br>
              <a:rPr lang="en-US" sz="1500" dirty="0"/>
            </a:br>
            <a:r>
              <a:rPr lang="en-US" sz="1500" dirty="0"/>
              <a:t>• </a:t>
            </a:r>
            <a:r>
              <a:rPr lang="en-US" sz="1500" b="1" dirty="0"/>
              <a:t>Precision = 12.5 %</a:t>
            </a:r>
            <a:br>
              <a:rPr lang="en-US" sz="1500" dirty="0"/>
            </a:br>
            <a:r>
              <a:rPr lang="en-US" sz="1500" dirty="0"/>
              <a:t>• </a:t>
            </a:r>
            <a:r>
              <a:rPr lang="en-US" sz="1500" b="1" dirty="0"/>
              <a:t>F1 = 0.20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Small caption:</a:t>
            </a:r>
            <a:r>
              <a:rPr lang="en-US" sz="1500" dirty="0"/>
              <a:t> </a:t>
            </a:r>
            <a:r>
              <a:rPr lang="en-US" sz="1500" i="1" dirty="0"/>
              <a:t>Test set = 56 962 rows (20 % split)</a:t>
            </a:r>
            <a:endParaRPr lang="en-US" sz="1500" dirty="0"/>
          </a:p>
        </p:txBody>
      </p:sp>
      <p:pic>
        <p:nvPicPr>
          <p:cNvPr id="12" name="Content Placeholder 11" descr="A graph with numbers and a blue square&#10;&#10;AI-generated content may be incorrect.">
            <a:extLst>
              <a:ext uri="{FF2B5EF4-FFF2-40B4-BE49-F238E27FC236}">
                <a16:creationId xmlns:a16="http://schemas.microsoft.com/office/drawing/2014/main" id="{62AAE158-F494-A05E-706A-A044BA589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653278"/>
            <a:ext cx="6903720" cy="555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59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ACCAF-1AEB-67A7-823B-EA7CCD0E6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Fraud-Class Metrics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with orange squares&#10;&#10;AI-generated content may be incorrect.">
            <a:extLst>
              <a:ext uri="{FF2B5EF4-FFF2-40B4-BE49-F238E27FC236}">
                <a16:creationId xmlns:a16="http://schemas.microsoft.com/office/drawing/2014/main" id="{9BED79CF-3F0D-3DA8-C1D5-6BEB9F1B8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2233"/>
            <a:ext cx="5136795" cy="339028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B0F35B-4814-DB05-F249-5BAC20624A73}"/>
              </a:ext>
            </a:extLst>
          </p:cNvPr>
          <p:cNvSpPr txBox="1"/>
          <p:nvPr/>
        </p:nvSpPr>
        <p:spPr>
          <a:xfrm>
            <a:off x="5162719" y="4495568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Bar chart</a:t>
            </a:r>
            <a:r>
              <a:rPr lang="en-US"/>
              <a:t> (already generated)</a:t>
            </a:r>
            <a:br>
              <a:rPr lang="en-US"/>
            </a:br>
            <a:r>
              <a:rPr lang="en-US" i="1"/>
              <a:t>X-axis:</a:t>
            </a:r>
            <a:r>
              <a:rPr lang="en-US"/>
              <a:t> Precision · Recall · F1  </a:t>
            </a:r>
            <a:r>
              <a:rPr lang="en-US" i="1"/>
              <a:t>Y-axis:</a:t>
            </a:r>
            <a:r>
              <a:rPr lang="en-US"/>
              <a:t> 0 – 1</a:t>
            </a:r>
            <a:br>
              <a:rPr lang="en-US"/>
            </a:br>
            <a:r>
              <a:rPr lang="en-US"/>
              <a:t>– Precision ≈ </a:t>
            </a:r>
            <a:r>
              <a:rPr lang="en-US" b="1"/>
              <a:t>0.13</a:t>
            </a:r>
            <a:r>
              <a:rPr lang="en-US"/>
              <a:t> </a:t>
            </a:r>
            <a:br>
              <a:rPr lang="en-US"/>
            </a:br>
            <a:r>
              <a:rPr lang="en-US"/>
              <a:t>– Recall ≈ </a:t>
            </a:r>
            <a:r>
              <a:rPr lang="en-US" b="1"/>
              <a:t>0.51</a:t>
            </a:r>
            <a:r>
              <a:rPr lang="en-US"/>
              <a:t> </a:t>
            </a:r>
            <a:br>
              <a:rPr lang="en-US"/>
            </a:br>
            <a:r>
              <a:rPr lang="en-US"/>
              <a:t>– F1-score ≈ </a:t>
            </a:r>
            <a:r>
              <a:rPr lang="en-US" b="1"/>
              <a:t>0.20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DB8F29-CEE4-A5A4-45C0-BCE8FEB3DF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531147"/>
              </p:ext>
            </p:extLst>
          </p:nvPr>
        </p:nvGraphicFramePr>
        <p:xfrm>
          <a:off x="6694069" y="364142"/>
          <a:ext cx="4343186" cy="34264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64248">
                  <a:extLst>
                    <a:ext uri="{9D8B030D-6E8A-4147-A177-3AD203B41FA5}">
                      <a16:colId xmlns:a16="http://schemas.microsoft.com/office/drawing/2014/main" val="2856460455"/>
                    </a:ext>
                  </a:extLst>
                </a:gridCol>
                <a:gridCol w="2178938">
                  <a:extLst>
                    <a:ext uri="{9D8B030D-6E8A-4147-A177-3AD203B41FA5}">
                      <a16:colId xmlns:a16="http://schemas.microsoft.com/office/drawing/2014/main" val="1816546375"/>
                    </a:ext>
                  </a:extLst>
                </a:gridCol>
              </a:tblGrid>
              <a:tr h="685293">
                <a:tc>
                  <a:txBody>
                    <a:bodyPr/>
                    <a:lstStyle/>
                    <a:p>
                      <a:r>
                        <a:rPr lang="tr-TR" sz="2100" cap="none" spc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marL="0" marR="98000" marT="39200" marB="294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2100" cap="none" spc="0">
                          <a:solidFill>
                            <a:schemeClr val="tx1"/>
                          </a:solidFill>
                        </a:rPr>
                        <a:t>Score</a:t>
                      </a:r>
                    </a:p>
                  </a:txBody>
                  <a:tcPr marL="0" marR="98000" marT="39200" marB="294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485228"/>
                  </a:ext>
                </a:extLst>
              </a:tr>
              <a:tr h="685293">
                <a:tc>
                  <a:txBody>
                    <a:bodyPr/>
                    <a:lstStyle/>
                    <a:p>
                      <a:r>
                        <a:rPr lang="tr-TR" sz="2100" cap="none" spc="0">
                          <a:solidFill>
                            <a:schemeClr val="tx1"/>
                          </a:solidFill>
                        </a:rPr>
                        <a:t>Recall</a:t>
                      </a:r>
                    </a:p>
                  </a:txBody>
                  <a:tcPr marL="0" marR="98000" marT="39200" marB="294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2100" b="1" cap="none" spc="0">
                          <a:solidFill>
                            <a:schemeClr val="tx1"/>
                          </a:solidFill>
                        </a:rPr>
                        <a:t>51 %</a:t>
                      </a:r>
                      <a:endParaRPr lang="tr-TR" sz="2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98000" marT="39200" marB="294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419640"/>
                  </a:ext>
                </a:extLst>
              </a:tr>
              <a:tr h="685293">
                <a:tc>
                  <a:txBody>
                    <a:bodyPr/>
                    <a:lstStyle/>
                    <a:p>
                      <a:r>
                        <a:rPr lang="tr-TR" sz="2100" cap="none" spc="0">
                          <a:solidFill>
                            <a:schemeClr val="tx1"/>
                          </a:solidFill>
                        </a:rPr>
                        <a:t>Precision</a:t>
                      </a:r>
                    </a:p>
                  </a:txBody>
                  <a:tcPr marL="0" marR="98000" marT="39200" marB="294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2100" b="1" cap="none" spc="0">
                          <a:solidFill>
                            <a:schemeClr val="tx1"/>
                          </a:solidFill>
                        </a:rPr>
                        <a:t>12.5 %</a:t>
                      </a:r>
                      <a:endParaRPr lang="tr-TR" sz="2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98000" marT="39200" marB="294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406457"/>
                  </a:ext>
                </a:extLst>
              </a:tr>
              <a:tr h="685293">
                <a:tc>
                  <a:txBody>
                    <a:bodyPr/>
                    <a:lstStyle/>
                    <a:p>
                      <a:r>
                        <a:rPr lang="tr-TR" sz="2100" cap="none" spc="0">
                          <a:solidFill>
                            <a:schemeClr val="tx1"/>
                          </a:solidFill>
                        </a:rPr>
                        <a:t>F1-score</a:t>
                      </a:r>
                    </a:p>
                  </a:txBody>
                  <a:tcPr marL="0" marR="98000" marT="39200" marB="294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2100" b="1" cap="none" spc="0">
                          <a:solidFill>
                            <a:schemeClr val="tx1"/>
                          </a:solidFill>
                        </a:rPr>
                        <a:t>0.20</a:t>
                      </a:r>
                      <a:endParaRPr lang="tr-TR" sz="2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98000" marT="39200" marB="294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287399"/>
                  </a:ext>
                </a:extLst>
              </a:tr>
              <a:tr h="685293">
                <a:tc>
                  <a:txBody>
                    <a:bodyPr/>
                    <a:lstStyle/>
                    <a:p>
                      <a:r>
                        <a:rPr lang="tr-TR" sz="2100" cap="none" spc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 marL="0" marR="98000" marT="39200" marB="294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2100" cap="none" spc="0">
                          <a:solidFill>
                            <a:schemeClr val="tx1"/>
                          </a:solidFill>
                        </a:rPr>
                        <a:t>98 frauds</a:t>
                      </a:r>
                    </a:p>
                  </a:txBody>
                  <a:tcPr marL="0" marR="98000" marT="39200" marB="294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554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222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64291-BCED-372A-AE2C-9F99CD757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651204" cy="14011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Visual Insight: Where the Anomalies Sit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blue and red dotted graph&#10;&#10;AI-generated content may be incorrect.">
            <a:extLst>
              <a:ext uri="{FF2B5EF4-FFF2-40B4-BE49-F238E27FC236}">
                <a16:creationId xmlns:a16="http://schemas.microsoft.com/office/drawing/2014/main" id="{FDCD35CE-1D4B-2CB2-5934-EF2F4F224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5" r="4095" b="-2"/>
          <a:stretch/>
        </p:blipFill>
        <p:spPr>
          <a:xfrm>
            <a:off x="6096000" y="1396181"/>
            <a:ext cx="5130250" cy="4364640"/>
          </a:xfrm>
          <a:prstGeom prst="rect">
            <a:avLst/>
          </a:prstGeom>
        </p:spPr>
      </p:pic>
      <p:graphicFrame>
        <p:nvGraphicFramePr>
          <p:cNvPr id="21" name="Rectangle 2">
            <a:extLst>
              <a:ext uri="{FF2B5EF4-FFF2-40B4-BE49-F238E27FC236}">
                <a16:creationId xmlns:a16="http://schemas.microsoft.com/office/drawing/2014/main" id="{A5C954BA-A1F2-C1F4-4D48-43B27F82A5E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83613085"/>
              </p:ext>
            </p:extLst>
          </p:nvPr>
        </p:nvGraphicFramePr>
        <p:xfrm>
          <a:off x="761839" y="2551176"/>
          <a:ext cx="4651205" cy="36029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4963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12A67-4A13-D1D0-F9E7-82ED5EF26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tr-TR" sz="4000" b="1"/>
              <a:t>Conclusion</a:t>
            </a:r>
            <a:r>
              <a:rPr lang="tr-TR" sz="4000" b="1" dirty="0"/>
              <a:t> &amp; </a:t>
            </a:r>
            <a:r>
              <a:rPr lang="tr-TR" sz="4000" b="1"/>
              <a:t>Key</a:t>
            </a:r>
            <a:r>
              <a:rPr lang="tr-TR" sz="4000" b="1" dirty="0"/>
              <a:t> </a:t>
            </a:r>
            <a:r>
              <a:rPr lang="tr-TR" sz="4000" b="1"/>
              <a:t>Take-Away</a:t>
            </a:r>
            <a:endParaRPr lang="tr-TR" sz="4000" b="1" dirty="0"/>
          </a:p>
        </p:txBody>
      </p:sp>
      <p:pic>
        <p:nvPicPr>
          <p:cNvPr id="8" name="Picture 7" descr="A robot holding a dna strand&#10;&#10;AI-generated content may be incorrect.">
            <a:extLst>
              <a:ext uri="{FF2B5EF4-FFF2-40B4-BE49-F238E27FC236}">
                <a16:creationId xmlns:a16="http://schemas.microsoft.com/office/drawing/2014/main" id="{ADDEFEBD-973E-3D9A-E566-442733D74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49" r="3653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C3CE04E-1799-8687-BAA2-FE24799B0F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208408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42417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613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“Credit-Card Fraud Detection with Isolation Forest”</vt:lpstr>
      <vt:lpstr>WHAT IS THE PROBLEM?</vt:lpstr>
      <vt:lpstr>“Dataset: Credit-Card Transactions (Kaggle 2013)”</vt:lpstr>
      <vt:lpstr>Challenge: Extreme Class Imbalance &amp; “Accuracy Trap”</vt:lpstr>
      <vt:lpstr>Method Selection: Why Isolation Forest?</vt:lpstr>
      <vt:lpstr>Model Tuning &amp; Hyper-parameters</vt:lpstr>
      <vt:lpstr>Confusion Matrix: How the Model Performs</vt:lpstr>
      <vt:lpstr>Fraud-Class Metrics</vt:lpstr>
      <vt:lpstr>Visual Insight: Where the Anomalies Sit</vt:lpstr>
      <vt:lpstr>Conclusion &amp; Key Take-Away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ÖMER FARUK GÜNEŞ</dc:creator>
  <cp:lastModifiedBy>ÖMER FARUK GÜNEŞ</cp:lastModifiedBy>
  <cp:revision>1</cp:revision>
  <dcterms:created xsi:type="dcterms:W3CDTF">2025-05-18T17:00:14Z</dcterms:created>
  <dcterms:modified xsi:type="dcterms:W3CDTF">2025-05-18T18:34:12Z</dcterms:modified>
</cp:coreProperties>
</file>